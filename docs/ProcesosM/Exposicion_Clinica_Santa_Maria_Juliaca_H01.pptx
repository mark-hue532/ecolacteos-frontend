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E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760720"/>
            <a:ext cx="12191695" cy="1097280"/>
          </a:xfrm>
          <a:prstGeom prst="rect">
            <a:avLst/>
          </a:prstGeom>
          <a:solidFill>
            <a:srgbClr val="08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381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2EA8B8"/>
                </a:solidFill>
                <a:latin typeface="Calibri"/>
              </a:rPr>
              <a:t>GESTIÓN Y MAPEO DE PROCESOS — METODOLOGÍA H01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Clínica Santa María Juliaca E.I.R.L.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DDF0F2"/>
                </a:solidFill>
                <a:latin typeface="Calibri"/>
              </a:rPr>
              <a:t>Identificación, priorización y caracterización de los procesos prioritarios de admisión,</a:t>
            </a:r>
          </a:p>
          <a:p>
            <a:pPr algn="l">
              <a:lnSpc>
                <a:spcPct val="100000"/>
              </a:lnSpc>
            </a:pPr>
            <a:r>
              <a:rPr sz="1500" b="0" i="1">
                <a:solidFill>
                  <a:srgbClr val="DDF0F2"/>
                </a:solidFill>
                <a:latin typeface="Calibri"/>
              </a:rPr>
              <a:t>atención clínica, procedimientos quirúrgicos y cobro de atenciones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7315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Universidad Peruana Unión — Filial Juliaca</a:t>
            </a:r>
          </a:p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Ingeniería de Sistemas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5943600"/>
            <a:ext cx="2926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Setiembre,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A8B8"/>
                </a:solidFill>
                <a:latin typeface="Calibri"/>
              </a:rPr>
              <a:t>ÍNDICE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Contenido de la exposición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777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2EA8B8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Clínica Santa María Juliaca E.I.R.L. — Metodología H01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1/22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650">
                <a:solidFill>
                  <a:srgbClr val="083A45"/>
                </a:solidFill>
                <a:latin typeface="Calibri"/>
              </a:rPr>
              <a:t>▪ 1-2.  </a:t>
            </a:r>
            <a:r>
              <a:rPr sz="1650">
                <a:solidFill>
                  <a:srgbClr val="3D3D3D"/>
                </a:solidFill>
                <a:latin typeface="Calibri"/>
              </a:rPr>
              <a:t>La organización — quiénes somos, misión y visión propuesta</a:t>
            </a:r>
          </a:p>
          <a:p>
            <a:pPr>
              <a:spcAft>
                <a:spcPts val="1200"/>
              </a:spcAft>
            </a:pPr>
            <a:r>
              <a:rPr b="1" sz="1650">
                <a:solidFill>
                  <a:srgbClr val="083A45"/>
                </a:solidFill>
                <a:latin typeface="Calibri"/>
              </a:rPr>
              <a:t>▪ 3-4.  </a:t>
            </a:r>
            <a:r>
              <a:rPr sz="1650">
                <a:solidFill>
                  <a:srgbClr val="3D3D3D"/>
                </a:solidFill>
                <a:latin typeface="Calibri"/>
              </a:rPr>
              <a:t>Matriz y Listado de Procesos por Producto-Cliente</a:t>
            </a:r>
          </a:p>
          <a:p>
            <a:pPr>
              <a:spcAft>
                <a:spcPts val="1200"/>
              </a:spcAft>
            </a:pPr>
            <a:r>
              <a:rPr b="1" sz="1650">
                <a:solidFill>
                  <a:srgbClr val="083A45"/>
                </a:solidFill>
                <a:latin typeface="Calibri"/>
              </a:rPr>
              <a:t>▪ 5.  </a:t>
            </a:r>
            <a:r>
              <a:rPr sz="1650">
                <a:solidFill>
                  <a:srgbClr val="3D3D3D"/>
                </a:solidFill>
                <a:latin typeface="Calibri"/>
              </a:rPr>
              <a:t>Mapa de Procesos (Nivel 0)</a:t>
            </a:r>
          </a:p>
          <a:p>
            <a:pPr>
              <a:spcAft>
                <a:spcPts val="1200"/>
              </a:spcAft>
            </a:pPr>
            <a:r>
              <a:rPr b="1" sz="1650">
                <a:solidFill>
                  <a:srgbClr val="083A45"/>
                </a:solidFill>
                <a:latin typeface="Calibri"/>
              </a:rPr>
              <a:t>▪ 6.  </a:t>
            </a:r>
            <a:r>
              <a:rPr sz="1650">
                <a:solidFill>
                  <a:srgbClr val="3D3D3D"/>
                </a:solidFill>
                <a:latin typeface="Calibri"/>
              </a:rPr>
              <a:t>Análisis de Alineamiento Estratégico (14 macroprocesos)</a:t>
            </a:r>
          </a:p>
          <a:p>
            <a:pPr>
              <a:spcAft>
                <a:spcPts val="1200"/>
              </a:spcAft>
            </a:pPr>
            <a:r>
              <a:rPr b="1" sz="1650">
                <a:solidFill>
                  <a:srgbClr val="083A45"/>
                </a:solidFill>
                <a:latin typeface="Calibri"/>
              </a:rPr>
              <a:t>▪ 7-8.  </a:t>
            </a:r>
            <a:r>
              <a:rPr sz="1650">
                <a:solidFill>
                  <a:srgbClr val="3D3D3D"/>
                </a:solidFill>
                <a:latin typeface="Calibri"/>
              </a:rPr>
              <a:t>Matriz de Procesos Estratégicos (12 procesos/subprocesos)</a:t>
            </a:r>
          </a:p>
          <a:p>
            <a:pPr>
              <a:spcAft>
                <a:spcPts val="1200"/>
              </a:spcAft>
            </a:pPr>
            <a:r>
              <a:rPr b="1" sz="1650">
                <a:solidFill>
                  <a:srgbClr val="083A45"/>
                </a:solidFill>
                <a:latin typeface="Calibri"/>
              </a:rPr>
              <a:t>▪ 9-10.  </a:t>
            </a:r>
            <a:r>
              <a:rPr sz="1650">
                <a:solidFill>
                  <a:srgbClr val="3D3D3D"/>
                </a:solidFill>
                <a:latin typeface="Calibri"/>
              </a:rPr>
              <a:t>Listado y Priorización de Procesos (17 procesos evaluados)</a:t>
            </a:r>
          </a:p>
          <a:p>
            <a:pPr>
              <a:spcAft>
                <a:spcPts val="1200"/>
              </a:spcAft>
            </a:pPr>
            <a:r>
              <a:rPr b="1" sz="1650">
                <a:solidFill>
                  <a:srgbClr val="083A45"/>
                </a:solidFill>
                <a:latin typeface="Calibri"/>
              </a:rPr>
              <a:t>▪ 11.  </a:t>
            </a:r>
            <a:r>
              <a:rPr sz="1650">
                <a:solidFill>
                  <a:srgbClr val="3D3D3D"/>
                </a:solidFill>
                <a:latin typeface="Calibri"/>
              </a:rPr>
              <a:t>Diagrama de Bloques de los procesos priorizados</a:t>
            </a:r>
          </a:p>
          <a:p>
            <a:pPr>
              <a:spcAft>
                <a:spcPts val="1200"/>
              </a:spcAft>
            </a:pPr>
            <a:r>
              <a:rPr b="1" sz="1650">
                <a:solidFill>
                  <a:srgbClr val="083A45"/>
                </a:solidFill>
                <a:latin typeface="Calibri"/>
              </a:rPr>
              <a:t>▪ 12-15.  </a:t>
            </a:r>
            <a:r>
              <a:rPr sz="1650">
                <a:solidFill>
                  <a:srgbClr val="3D3D3D"/>
                </a:solidFill>
                <a:latin typeface="Calibri"/>
              </a:rPr>
              <a:t>Fichas de Caracterización SIPOC (4 procesos priorizados)</a:t>
            </a:r>
          </a:p>
          <a:p>
            <a:pPr>
              <a:spcAft>
                <a:spcPts val="1200"/>
              </a:spcAft>
            </a:pPr>
            <a:r>
              <a:rPr b="1" sz="1650">
                <a:solidFill>
                  <a:srgbClr val="083A45"/>
                </a:solidFill>
                <a:latin typeface="Calibri"/>
              </a:rPr>
              <a:t>▪ 16.  </a:t>
            </a:r>
            <a:r>
              <a:rPr sz="1650">
                <a:solidFill>
                  <a:srgbClr val="3D3D3D"/>
                </a:solidFill>
                <a:latin typeface="Calibri"/>
              </a:rPr>
              <a:t>Manual de Gestión — lineamientos</a:t>
            </a:r>
          </a:p>
          <a:p>
            <a:pPr>
              <a:spcAft>
                <a:spcPts val="1200"/>
              </a:spcAft>
            </a:pPr>
            <a:r>
              <a:rPr b="1" sz="1650">
                <a:solidFill>
                  <a:srgbClr val="083A45"/>
                </a:solidFill>
                <a:latin typeface="Calibri"/>
              </a:rPr>
              <a:t>▪ 17.  </a:t>
            </a:r>
            <a:r>
              <a:rPr sz="1650">
                <a:solidFill>
                  <a:srgbClr val="3D3D3D"/>
                </a:solidFill>
                <a:latin typeface="Calibri"/>
              </a:rPr>
              <a:t>Guía de Actividades</a:t>
            </a:r>
          </a:p>
          <a:p>
            <a:pPr>
              <a:spcAft>
                <a:spcPts val="1200"/>
              </a:spcAft>
            </a:pPr>
            <a:r>
              <a:rPr b="1" sz="1650">
                <a:solidFill>
                  <a:srgbClr val="083A45"/>
                </a:solidFill>
                <a:latin typeface="Calibri"/>
              </a:rPr>
              <a:t>▪ 18-19.  </a:t>
            </a:r>
            <a:r>
              <a:rPr sz="1650">
                <a:solidFill>
                  <a:srgbClr val="3D3D3D"/>
                </a:solidFill>
                <a:latin typeface="Calibri"/>
              </a:rPr>
              <a:t>Documentos elaborados y Conclusiones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A8B8"/>
                </a:solidFill>
                <a:latin typeface="Calibri"/>
              </a:rPr>
              <a:t>GENERALIDADES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¿Quiénes somos?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777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2EA8B8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Clínica Santa María Juliaca E.I.R.L. — Metodología H01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2/22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07899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650">
                <a:solidFill>
                  <a:srgbClr val="083A45"/>
                </a:solidFill>
                <a:latin typeface="Calibri"/>
              </a:rPr>
              <a:t>▪ Organización:  </a:t>
            </a:r>
            <a:r>
              <a:rPr sz="1650">
                <a:solidFill>
                  <a:srgbClr val="3D3D3D"/>
                </a:solidFill>
                <a:latin typeface="Calibri"/>
              </a:rPr>
              <a:t>Clínica Santa María Juliaca E.I.R.L., establecimiento de salud privado.</a:t>
            </a:r>
          </a:p>
          <a:p>
            <a:pPr>
              <a:spcAft>
                <a:spcPts val="1600"/>
              </a:spcAft>
            </a:pPr>
            <a:r>
              <a:rPr b="1" sz="1650">
                <a:solidFill>
                  <a:srgbClr val="083A45"/>
                </a:solidFill>
                <a:latin typeface="Calibri"/>
              </a:rPr>
              <a:t>▪ Ubicación:  </a:t>
            </a:r>
            <a:r>
              <a:rPr sz="1650">
                <a:solidFill>
                  <a:srgbClr val="3D3D3D"/>
                </a:solidFill>
                <a:latin typeface="Calibri"/>
              </a:rPr>
              <a:t>Jr. 7 de Junio N.° 332, Cercado, Juliaca, San Román, Puno.</a:t>
            </a:r>
          </a:p>
          <a:p>
            <a:pPr>
              <a:spcAft>
                <a:spcPts val="1600"/>
              </a:spcAft>
            </a:pPr>
            <a:r>
              <a:rPr b="1" sz="1650">
                <a:solidFill>
                  <a:srgbClr val="083A45"/>
                </a:solidFill>
                <a:latin typeface="Calibri"/>
              </a:rPr>
              <a:t>▪ Servicios:  </a:t>
            </a:r>
            <a:r>
              <a:rPr sz="1650">
                <a:solidFill>
                  <a:srgbClr val="3D3D3D"/>
                </a:solidFill>
                <a:latin typeface="Calibri"/>
              </a:rPr>
              <a:t>Consulta externa, hospitalización, ginecología y procedimientos quirúrgicos.</a:t>
            </a:r>
          </a:p>
          <a:p>
            <a:pPr>
              <a:spcAft>
                <a:spcPts val="1600"/>
              </a:spcAft>
            </a:pPr>
            <a:r>
              <a:rPr b="1" sz="1650">
                <a:solidFill>
                  <a:srgbClr val="083A45"/>
                </a:solidFill>
                <a:latin typeface="Calibri"/>
              </a:rPr>
              <a:t>▪ Fuente de información:  </a:t>
            </a:r>
            <a:r>
              <a:rPr sz="1650">
                <a:solidFill>
                  <a:srgbClr val="3D3D3D"/>
                </a:solidFill>
                <a:latin typeface="Calibri"/>
              </a:rPr>
              <a:t>Manual de Procedimientos físico de la clínica (fichas y flujogramas por área).</a:t>
            </a:r>
          </a:p>
          <a:p>
            <a:pPr>
              <a:spcAft>
                <a:spcPts val="1600"/>
              </a:spcAft>
            </a:pPr>
            <a:r>
              <a:rPr b="1" sz="1650">
                <a:solidFill>
                  <a:srgbClr val="083A45"/>
                </a:solidFill>
                <a:latin typeface="Calibri"/>
              </a:rPr>
              <a:t>▪ Objetivo del trabajo:  </a:t>
            </a:r>
            <a:r>
              <a:rPr sz="1650">
                <a:solidFill>
                  <a:srgbClr val="3D3D3D"/>
                </a:solidFill>
                <a:latin typeface="Calibri"/>
              </a:rPr>
              <a:t>Documentar y estandarizar los procesos prioritarios definiendo responsabilidades, secuencia de actividades, controles y registros.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A8B8"/>
                </a:solidFill>
                <a:latin typeface="Calibri"/>
              </a:rPr>
              <a:t>GENERALIDADES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Misión y Visión (propuesta)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777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2EA8B8"/>
                </a:solidFill>
                <a:latin typeface="Calibr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Clínica Santa María Juliaca E.I.R.L. — Metodología H01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3/22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5394960" cy="228600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173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83A45"/>
                </a:solidFill>
                <a:latin typeface="Calibri"/>
              </a:rPr>
              <a:t>MISIÓN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783080"/>
            <a:ext cx="493776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D3D3D"/>
                </a:solidFill>
                <a:latin typeface="Calibri"/>
              </a:rPr>
              <a:t>Brindar servicios de salud de calidad en consulta externa, hospitalización, ginecología y procedimientos quirúrgicos, con un equipo comprometido con la seguridad del paciente, la calidez en la atención y la mejora continua de los procesos.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394960" cy="228600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41732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083A45"/>
                </a:solidFill>
                <a:latin typeface="Calibri"/>
              </a:rPr>
              <a:t>VISIÓN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493776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i="0">
                <a:solidFill>
                  <a:srgbClr val="3D3D3D"/>
                </a:solidFill>
                <a:latin typeface="Calibri"/>
              </a:rPr>
              <a:t>Ser reconocida al 2028 como una clínica líder en la provincia de San Román por la calidad y seguridad de su atención médica, con procesos estandarizados, personal calificado y uso eficiente de recursos.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94760"/>
            <a:ext cx="11064240" cy="1554480"/>
          </a:xfrm>
          <a:prstGeom prst="rect">
            <a:avLst/>
          </a:prstGeom>
          <a:solidFill>
            <a:srgbClr val="FFF6E0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04487"/>
            <a:ext cx="1060704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7A5C00"/>
                </a:solidFill>
                <a:latin typeface="Calibri"/>
              </a:rPr>
              <a:t>Nota metodológica: la clínica no cuenta con misión y visión formalizadas ni publicadas. El texto anterior es una propuesta elaborada por el equipo para efectos de este trabajo académico, con base en la actividad y el alcance de la organización, y queda sujeta a validación por parte de la clínica.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A8B8"/>
                </a:solidFill>
                <a:latin typeface="Calibri"/>
              </a:rPr>
              <a:t>HERRAMIENTA H01.01.01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Matriz de Productos - Clientes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777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2EA8B8"/>
                </a:solidFill>
                <a:latin typeface="Calibri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Clínica Santa María Juliaca E.I.R.L. — Metodología H01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4/22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34440"/>
          <a:ext cx="112928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834640"/>
                <a:gridCol w="2651760"/>
                <a:gridCol w="2011680"/>
                <a:gridCol w="3429000"/>
              </a:tblGrid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Producto / Servicio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Cliente(s)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Área que Entrega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Otras Áreas Participantes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Atención en consulta externa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Pacientes / usuarios ambulatorios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Consulta Externa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Admisión; Enfermería/Triaje; Caja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Hospitalización y tratamiento del paciente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Pacientes hospitalizados y familiares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Hospitalización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Enfermería; Ginecología; Diagnóstico/Lab; Caja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Atención en ginecología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Usuarias del servicio de ginecología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Ginecología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Enfermería/Triaje; Admisión; Caja; Diagnóstico/Lab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Procedimiento quirúrgico en gineco-obstetricia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Pacientes programadas a cirugía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Sala de Operaciones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Hospitalización; Ginecología; Anestesiología; Enfermería; Laboratorio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Alta médica y de hospitalización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Pacientes que egresan y familiares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Hospitalización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Consulta Externa; Enfermería; Caja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4617720"/>
            <a:ext cx="1097280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3D3D3D"/>
                </a:solidFill>
                <a:latin typeface="Calibri"/>
              </a:rPr>
              <a:t>Expectativas de cliente (QUÉ/CÓMO), comunes a todos los servicios: atención oportuna, segura y de calidad, con orientación clara desde el ingreso, evaluación completa, cumplimiento de tiempos de espera y trato con calidez.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A8B8"/>
                </a:solidFill>
                <a:latin typeface="Calibri"/>
              </a:rPr>
              <a:t>HERRAMIENTA H01.02.01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Listado de Procesos con Productos - Clientes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777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2EA8B8"/>
                </a:solidFill>
                <a:latin typeface="Calibr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Clínica Santa María Juliaca E.I.R.L. — Metodología H01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5/22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34440"/>
          <a:ext cx="1129284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2651760"/>
                <a:gridCol w="3429000"/>
                <a:gridCol w="484632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Producto / Servicio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Proceso que lo Entrega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Otros Procesos que Colaboran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Atención en consulta externa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Admisión y Atención en Consulta Externa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Admisión y Registro de H.C.; Caja y Gestión Financiera-Contable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Hospitalización y tratamiento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Hospitalización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Admisión y Atención en Consulta Externa; Caja; Diagnóstico por Imágenes y Laboratorio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Atención en ginecología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Atención y Procedimientos en Ginecología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Admisión y Registro de H.C.; Caja; Diagnóstico por Imágenes y Laboratorio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Procedimiento quirúrgico gineco-obstétrico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Procedimientos Quirúrgicos (Sala de Operaciones)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Hospitalización; Atención y Procedimientos en Ginecología; Diagnóstico por Imágenes y Laboratorio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Alta médica y de hospitalización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Alta Médica y Seguimiento del Paciente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Hospitalización; Caja y Gestión Financiera-Contable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4434840"/>
            <a:ext cx="11292840" cy="173736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544568"/>
            <a:ext cx="1097280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D3D3D"/>
                </a:solidFill>
                <a:latin typeface="Calibri"/>
              </a:rPr>
              <a:t>Todos los procesos de creación de valor requieren además el soporte transversal de: Dirección y Planificación Gerencial; Gestión de Calidad e Inocuidad; Gestión Normativa e Institucional; Gestión de Recursos Humanos; Mantenimiento de Equipos e Infraestructura; y Gestión de Reportes y Trámites.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A8B8"/>
                </a:solidFill>
                <a:latin typeface="Calibri"/>
              </a:rPr>
              <a:t>HERRAMIENTA H01.03.01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Mapa de Procesos — Nivel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777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2EA8B8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Clínica Santa María Juliaca E.I.R.L. — Metodología H01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6/22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188720"/>
            <a:ext cx="1554480" cy="3566160"/>
          </a:xfrm>
          <a:prstGeom prst="rect">
            <a:avLst/>
          </a:prstGeom>
          <a:solidFill>
            <a:srgbClr val="08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188720"/>
            <a:ext cx="1554480" cy="3566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NECESIDADES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DEL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PACIENTE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195560" y="1188720"/>
            <a:ext cx="1554480" cy="3566160"/>
          </a:xfrm>
          <a:prstGeom prst="rect">
            <a:avLst/>
          </a:prstGeom>
          <a:solidFill>
            <a:srgbClr val="083A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195560" y="1188720"/>
            <a:ext cx="1554480" cy="3566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SATISFACCIÓN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DEL</a:t>
            </a:r>
          </a:p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PACIENTE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48840" y="1188720"/>
            <a:ext cx="7909560" cy="960120"/>
          </a:xfrm>
          <a:prstGeom prst="rect">
            <a:avLst/>
          </a:prstGeom>
          <a:solidFill>
            <a:srgbClr val="1B7A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1234440"/>
            <a:ext cx="12801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ESTRATÉGICOS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0" y="1252728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03320" y="1252728"/>
            <a:ext cx="1920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83A45"/>
                </a:solidFill>
                <a:latin typeface="Calibri"/>
              </a:rPr>
              <a:t>E01. Dirección y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83A45"/>
                </a:solidFill>
                <a:latin typeface="Calibri"/>
              </a:rPr>
              <a:t>Planificación Gerencial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42431" y="1252728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88151" y="1252728"/>
            <a:ext cx="1920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83A45"/>
                </a:solidFill>
                <a:latin typeface="Calibri"/>
              </a:rPr>
              <a:t>E02. Gestión de Calidad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83A45"/>
                </a:solidFill>
                <a:latin typeface="Calibri"/>
              </a:rPr>
              <a:t>e Inocuidad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27263" y="1252728"/>
            <a:ext cx="201168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72983" y="1252728"/>
            <a:ext cx="1920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83A45"/>
                </a:solidFill>
                <a:latin typeface="Calibri"/>
              </a:rPr>
              <a:t>E03. Gestión</a:t>
            </a:r>
          </a:p>
          <a:p>
            <a:pPr algn="ctr">
              <a:lnSpc>
                <a:spcPct val="100000"/>
              </a:lnSpc>
            </a:pPr>
            <a:r>
              <a:rPr sz="950" b="1" i="0">
                <a:solidFill>
                  <a:srgbClr val="083A45"/>
                </a:solidFill>
                <a:latin typeface="Calibri"/>
              </a:rPr>
              <a:t>Normativa e Institucional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48840" y="2240280"/>
            <a:ext cx="7909560" cy="123444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86000" y="2286000"/>
            <a:ext cx="118872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CREACIÓN</a:t>
            </a:r>
          </a:p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 VALOR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11880" y="2313432"/>
            <a:ext cx="15361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9312" y="2313432"/>
            <a:ext cx="148132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83A45"/>
                </a:solidFill>
                <a:latin typeface="Calibri"/>
              </a:rPr>
              <a:t>V01. Admisión y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83A45"/>
                </a:solidFill>
                <a:latin typeface="Calibri"/>
              </a:rPr>
              <a:t>Atención en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83A45"/>
                </a:solidFill>
                <a:latin typeface="Calibri"/>
              </a:rPr>
              <a:t>Consulta Externa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12080" y="2313432"/>
            <a:ext cx="15361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39512" y="2313432"/>
            <a:ext cx="148132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83A45"/>
                </a:solidFill>
                <a:latin typeface="Calibri"/>
              </a:rPr>
              <a:t>V02.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83A45"/>
                </a:solidFill>
                <a:latin typeface="Calibri"/>
              </a:rPr>
              <a:t>Hospitalización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12280" y="2313432"/>
            <a:ext cx="15361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39712" y="2313432"/>
            <a:ext cx="148132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83A45"/>
                </a:solidFill>
                <a:latin typeface="Calibri"/>
              </a:rPr>
              <a:t>V03. Atención y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83A45"/>
                </a:solidFill>
                <a:latin typeface="Calibri"/>
              </a:rPr>
              <a:t>Procedimientos en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83A45"/>
                </a:solidFill>
                <a:latin typeface="Calibri"/>
              </a:rPr>
              <a:t>Ginecología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412480" y="2313432"/>
            <a:ext cx="15361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9911" y="2313432"/>
            <a:ext cx="148132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83A45"/>
                </a:solidFill>
                <a:latin typeface="Calibri"/>
              </a:rPr>
              <a:t>V04. Procedimientos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83A45"/>
                </a:solidFill>
                <a:latin typeface="Calibri"/>
              </a:rPr>
              <a:t>Quirúrgicos (Sala de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83A45"/>
                </a:solidFill>
                <a:latin typeface="Calibri"/>
              </a:rPr>
              <a:t>Operaciones)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012680" y="2313432"/>
            <a:ext cx="1536192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40111" y="2313432"/>
            <a:ext cx="1481328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83A45"/>
                </a:solidFill>
                <a:latin typeface="Calibri"/>
              </a:rPr>
              <a:t>V05. Alta Médica y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83A45"/>
                </a:solidFill>
                <a:latin typeface="Calibri"/>
              </a:rPr>
              <a:t>Seguimiento del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83A45"/>
                </a:solidFill>
                <a:latin typeface="Calibri"/>
              </a:rPr>
              <a:t>Paciente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48840" y="3611880"/>
            <a:ext cx="7909560" cy="1097280"/>
          </a:xfrm>
          <a:prstGeom prst="rect">
            <a:avLst/>
          </a:prstGeom>
          <a:solidFill>
            <a:srgbClr val="6C8A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0" y="3657600"/>
            <a:ext cx="1280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SOPORTE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11880" y="3685032"/>
            <a:ext cx="12618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30168" y="3685032"/>
            <a:ext cx="122529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83A45"/>
                </a:solidFill>
                <a:latin typeface="Calibri"/>
              </a:rPr>
              <a:t>SN01. Caja y Gestión</a:t>
            </a:r>
          </a:p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83A45"/>
                </a:solidFill>
                <a:latin typeface="Calibri"/>
              </a:rPr>
              <a:t>Financiera-Contable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910328" y="3685032"/>
            <a:ext cx="12618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28616" y="3685032"/>
            <a:ext cx="122529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83A45"/>
                </a:solidFill>
                <a:latin typeface="Calibri"/>
              </a:rPr>
              <a:t>SN02. Admisión y</a:t>
            </a:r>
          </a:p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83A45"/>
                </a:solidFill>
                <a:latin typeface="Calibri"/>
              </a:rPr>
              <a:t>Registro de H.C.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08776" y="3685032"/>
            <a:ext cx="12618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27064" y="3685032"/>
            <a:ext cx="122529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83A45"/>
                </a:solidFill>
                <a:latin typeface="Calibri"/>
              </a:rPr>
              <a:t>SN03. Diagnóstico por</a:t>
            </a:r>
          </a:p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83A45"/>
                </a:solidFill>
                <a:latin typeface="Calibri"/>
              </a:rPr>
              <a:t>Imágenes y Lab.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507224" y="3685032"/>
            <a:ext cx="12618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25512" y="3685032"/>
            <a:ext cx="122529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83A45"/>
                </a:solidFill>
                <a:latin typeface="Calibri"/>
              </a:rPr>
              <a:t>SI01. Gestión de</a:t>
            </a:r>
          </a:p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83A45"/>
                </a:solidFill>
                <a:latin typeface="Calibri"/>
              </a:rPr>
              <a:t>Recursos Humanos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05672" y="3685032"/>
            <a:ext cx="12618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23960" y="3685032"/>
            <a:ext cx="122529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83A45"/>
                </a:solidFill>
                <a:latin typeface="Calibri"/>
              </a:rPr>
              <a:t>SI02. Mantenimiento de</a:t>
            </a:r>
          </a:p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83A45"/>
                </a:solidFill>
                <a:latin typeface="Calibri"/>
              </a:rPr>
              <a:t>Equipos e Infraestructura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04120" y="3685032"/>
            <a:ext cx="1261872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22408" y="3685032"/>
            <a:ext cx="1225296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83A45"/>
                </a:solidFill>
                <a:latin typeface="Calibri"/>
              </a:rPr>
              <a:t>SI03. Gestión de</a:t>
            </a:r>
          </a:p>
          <a:p>
            <a:pPr algn="ctr">
              <a:lnSpc>
                <a:spcPct val="100000"/>
              </a:lnSpc>
            </a:pPr>
            <a:r>
              <a:rPr sz="800" b="1" i="0">
                <a:solidFill>
                  <a:srgbClr val="083A45"/>
                </a:solidFill>
                <a:latin typeface="Calibri"/>
              </a:rPr>
              <a:t>Reportes y Trámites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493776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3D3D3D"/>
                </a:solidFill>
                <a:latin typeface="Calibri"/>
              </a:rPr>
              <a:t>El mapa organiza los procesos en tres niveles: Estratégicos (dirección, calidad, normativa), de Creación de Valor (la cadena asistencial que atiende directamente al paciente) y de Soporte (al negocio e institucional), que garantizan los recursos y condiciones para operar.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A8B8"/>
                </a:solidFill>
                <a:latin typeface="Calibri"/>
              </a:rPr>
              <a:t>HERRAMIENTA H01.03.02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Análisis de Alineamiento Estratégico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777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2EA8B8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Clínica Santa María Juliaca E.I.R.L. — Metodología H01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7/22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3D3D3D"/>
                </a:solidFill>
                <a:latin typeface="Calibri"/>
              </a:rPr>
              <a:t>Escala 1-5 por elemento del modelo de negocio. Alineado si: Estratégicos/Creación de Valor ≥14, Soporte ≥10.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463040"/>
          <a:ext cx="112928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"/>
                <a:gridCol w="5120640"/>
                <a:gridCol w="1051560"/>
                <a:gridCol w="1051560"/>
                <a:gridCol w="1005840"/>
                <a:gridCol w="1051560"/>
                <a:gridCol w="1234440"/>
              </a:tblGrid>
              <a:tr h="32308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Categ.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Macroproceso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Enfoque</a:t>
                      </a:r>
                    </a:p>
                    <a:p>
                      <a:r>
                        <a:t>Mercado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Propuesta</a:t>
                      </a:r>
                    </a:p>
                    <a:p>
                      <a:r>
                        <a:t>de Valor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Activ.</a:t>
                      </a:r>
                    </a:p>
                    <a:p>
                      <a:r>
                        <a:t>Clave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Estrategia</a:t>
                      </a:r>
                    </a:p>
                    <a:p>
                      <a:r>
                        <a:t>Instit.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EST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E01. Dirección y Planificación Gerencial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EST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E02. Gestión de Calidad e Inocuidad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EST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E03. Gestión Normativa e Institucional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V01. Admisión y Atención en Consulta Externa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V02. Hospitalización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V03. Atención y Procedimientos en Ginecología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V04. Procedimientos Quirúrgicos (Sala Operaciones)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VAL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V05. Alta Médica y Seguimiento del Paciente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SOP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SN01. Caja y Gestión Financiera-Contable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SOP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SN02. Admisión y Registro de Historias Clínicas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SOP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SN03. Diagnóstico por Imágenes y Laboratorio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SOP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SI01. Gestión de Recursos Humanos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SOP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SI02. Mantenimiento de Equipos e Infraestructura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32308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SOP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SI03. Gestión de Reportes y Trámites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D3D3D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A8B8"/>
                </a:solidFill>
                <a:latin typeface="Calibri"/>
              </a:rPr>
              <a:t>HERRAMIENTA H01.03.03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Matriz de Procesos Estratégicos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777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2EA8B8"/>
                </a:solidFill>
                <a:latin typeface="Calibri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Clínica Santa María Juliaca E.I.R.L. — Metodología H01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8/22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34440"/>
          <a:ext cx="112928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920240"/>
                <a:gridCol w="548640"/>
                <a:gridCol w="2743200"/>
                <a:gridCol w="5715000"/>
              </a:tblGrid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N°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Macroproceso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Nivel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Proceso / Subproceso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Finalidad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Gestión Estratégica y</a:t>
                      </a:r>
                    </a:p>
                    <a:p>
                      <a:r>
                        <a:t>Gobierno Clínico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N0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Gestión Estratégica y Gobierno Clínico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Dirigir integralmente la clínica, definiendo objetivos, prioridades, políticas y lineamientos para una atención segura y sostenible.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Direccionamiento</a:t>
                      </a:r>
                    </a:p>
                    <a:p>
                      <a:r>
                        <a:t>Estratégico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N1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Planificación estratégica institucional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Definir misión, visión, objetivos, metas e indicadores institucionales.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Direccionamiento</a:t>
                      </a:r>
                    </a:p>
                    <a:p>
                      <a:r>
                        <a:t>Estratégico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N2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Formulación y seguimiento de objetivos e indicadores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Establecer indicadores y mecanismos de seguimiento para evaluar el desempeño.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Direccionamiento</a:t>
                      </a:r>
                    </a:p>
                    <a:p>
                      <a:r>
                        <a:t>Estratégico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N2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Revisión del desempeño institucional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Analizar periódicamente resultados y necesidades de mejora.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Gestión de la Calidad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N1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Gestión de calidad y mejora continua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Asegurar servicios bajo procedimientos estandarizados y mejora continua.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Gestión de la Calidad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N2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Estandarización y actualización de procedimientos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Mantener documentados y disponibles los procedimientos clínicos y administrativos.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A8B8"/>
                </a:solidFill>
                <a:latin typeface="Calibri"/>
              </a:rPr>
              <a:t>HERRAMIENTA H01.03.03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Matriz de Procesos Estratégicos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777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2EA8B8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Clínica Santa María Juliaca E.I.R.L. — Metodología H01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9/22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34440"/>
          <a:ext cx="1129284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1920240"/>
                <a:gridCol w="548640"/>
                <a:gridCol w="2743200"/>
                <a:gridCol w="5715000"/>
              </a:tblGrid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N°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Macroproceso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Nivel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Proceso / Subproceso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Calibri"/>
                        </a:rPr>
                        <a:t>Finalidad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Gestión de la Calidad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N2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Seguimiento de indicadores de calidad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Medir el desempeño mediante registros e indicadores.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Gestión de Riesgos y</a:t>
                      </a:r>
                    </a:p>
                    <a:p>
                      <a:r>
                        <a:t>Seguridad del Paciente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N1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Gestión de riesgos clínicos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Identificar, evaluar y reducir riesgos que afecten la seguridad del paciente.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Gestión de Riesgos y</a:t>
                      </a:r>
                    </a:p>
                    <a:p>
                      <a:r>
                        <a:t>Seguridad del Paciente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N2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Seguridad del paciente y control de eventos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Prevenir incidentes y promover acciones correctivas ante riesgos detectados.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Gestión de Riesgos y</a:t>
                      </a:r>
                    </a:p>
                    <a:p>
                      <a:r>
                        <a:t>Seguridad del Paciente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N2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Control de consentimiento e información clínica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Asegurar información suficiente al paciente y consentimiento informado.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705394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Gestión Legal y</a:t>
                      </a:r>
                    </a:p>
                    <a:p>
                      <a:r>
                        <a:t>Cumplimiento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N1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Cumplimiento normativo en salud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Asegurar actividades conforme a la Ley General de Salud y normas sanitarias.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705396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Gestión Legal y</a:t>
                      </a:r>
                    </a:p>
                    <a:p>
                      <a:r>
                        <a:t>Cumplimiento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N2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Control documental y registros clínicos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D3D3D"/>
                          </a:solidFill>
                          <a:latin typeface="Calibri"/>
                        </a:rPr>
                        <a:t>Asegurar conservación, trazabilidad y disponibilidad de la historia clínica.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59436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3D3D3D"/>
                </a:solidFill>
                <a:latin typeface="Calibri"/>
              </a:rPr>
              <a:t>Niveles: N0 = macroproceso estratégico; N1 = proceso estratégico; N2 = subproceso o componente específico.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A8B8"/>
                </a:solidFill>
                <a:latin typeface="Calibri"/>
              </a:rPr>
              <a:t>HERRAMIENTA H01.03.04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Listado y Priorización de Procesos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777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2EA8B8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Clínica Santa María Juliaca E.I.R.L. — Metodología H01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10/22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1">
                <a:solidFill>
                  <a:srgbClr val="3D3D3D"/>
                </a:solidFill>
                <a:latin typeface="Calibri"/>
              </a:rPr>
              <a:t>F1 Impacto en el paciente | F2 Riesgo clínico | F3 Frecuencia | F4 Cumplim. legal | F5 Oport. de mejora  (escala 1-5)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1417320"/>
          <a:ext cx="905256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4023360"/>
                <a:gridCol w="502920"/>
                <a:gridCol w="502920"/>
                <a:gridCol w="502920"/>
                <a:gridCol w="502920"/>
                <a:gridCol w="502920"/>
                <a:gridCol w="685800"/>
                <a:gridCol w="777240"/>
                <a:gridCol w="731520"/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Proceso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F2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F3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F4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F5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Punt.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Perc.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Prior.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Atención en consulta externa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47%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Admisión y orientación del paciente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Triaje y evaluación inicial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Atención en ginecología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47%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Exámenes auxiliares y diagnóstico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47%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Hospitalización del paciente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Atención de enfermería en hospitalización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100%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Procedimiento quirúrgico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47%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Recuperación postoperatoria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47%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A8B8"/>
                </a:solidFill>
                <a:latin typeface="Calibri"/>
              </a:rPr>
              <a:t>HERRAMIENTA H01.03.04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Listado y Priorización de Procesos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777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2EA8B8"/>
                </a:solidFill>
                <a:latin typeface="Calibr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Clínica Santa María Juliaca E.I.R.L. — Metodología H01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11/22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34440"/>
          <a:ext cx="90525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/>
                <a:gridCol w="4023360"/>
                <a:gridCol w="502920"/>
                <a:gridCol w="502920"/>
                <a:gridCol w="502920"/>
                <a:gridCol w="502920"/>
                <a:gridCol w="502920"/>
                <a:gridCol w="685800"/>
                <a:gridCol w="777240"/>
                <a:gridCol w="731520"/>
              </a:tblGrid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Proceso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F2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F3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F4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F5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Punt.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Perc.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Prior.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Alta médica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29%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Gestión de historia clínica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29%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Gestión de consentimiento informado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22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29%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Caja y emisión de comprobantes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6%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Planificación estratégica institucional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19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12%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Gestión de calidad y mejora continua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47%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Gestión de riesgos y seguridad del paciente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24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82%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SÍ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17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Cumplimiento normativo en salud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18%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3D3D3D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457200" y="5074920"/>
            <a:ext cx="11292840" cy="118872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16636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D3D3D"/>
                </a:solidFill>
                <a:latin typeface="Calibri"/>
              </a:rPr>
              <a:t>Umbral de prioridad: percentil ≥ 70. De 17 procesos evaluados, 4 son prioritarios: Atención de Enfermería en Hospitalización, Triaje y evaluación inicial, Hospitalización del paciente, y Gestión de riesgos y seguridad del paciente.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A8B8"/>
                </a:solidFill>
                <a:latin typeface="Calibri"/>
              </a:rPr>
              <a:t>HERRAMIENTA H01.03.05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Diagrama de Bloques — Procesos Priorizados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777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2EA8B8"/>
                </a:solidFill>
                <a:latin typeface="Calibr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Clínica Santa María Juliaca E.I.R.L. — Metodología H01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12/22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2743200" cy="5029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V01.1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Admisión y Triaje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20240"/>
            <a:ext cx="2743200" cy="105156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1956816"/>
            <a:ext cx="259689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ENTRADAS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Usuario ingresa,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historia clínica previa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08960"/>
            <a:ext cx="2743200" cy="105156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3145536"/>
            <a:ext cx="259689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PROCESO</a:t>
            </a:r>
          </a:p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Orientación → Registro → Triaje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297680"/>
            <a:ext cx="2743200" cy="105156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" y="4334256"/>
            <a:ext cx="259689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SALIDAS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Usuario orientado,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signos vitales registrados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280160"/>
            <a:ext cx="2743200" cy="5029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28016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V04.1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Procedimiento Quirúrgico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80" y="1920240"/>
            <a:ext cx="2743200" cy="105156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1956816"/>
            <a:ext cx="259689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ENTRADAS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Paciente programada,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consentimiento informado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80" y="3108960"/>
            <a:ext cx="2743200" cy="105156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56432" y="3145536"/>
            <a:ext cx="259689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PROCESO</a:t>
            </a:r>
          </a:p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Preparación → Cirugía segura → Intervención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4297680"/>
            <a:ext cx="2743200" cy="105156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56432" y="4334256"/>
            <a:ext cx="259689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SALIDAS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Cirugía realizada,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reporte operatorio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280160"/>
            <a:ext cx="2743200" cy="5029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128016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V05.1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Alta Médica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63640" y="1920240"/>
            <a:ext cx="2743200" cy="105156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36792" y="1956816"/>
            <a:ext cx="259689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ENTRADAS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Paciente en condición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de alta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3108960"/>
            <a:ext cx="2743200" cy="105156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36792" y="3145536"/>
            <a:ext cx="259689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PROCESO</a:t>
            </a:r>
          </a:p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Evaluación → Epicrisis → Entrega documentos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4297680"/>
            <a:ext cx="2743200" cy="105156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4334256"/>
            <a:ext cx="259689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SALIDAS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Epicrisis, receta,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cuenta liquidada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0" y="1280160"/>
            <a:ext cx="2743200" cy="5029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0" y="1280160"/>
            <a:ext cx="27432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SN01.1</a:t>
            </a:r>
          </a:p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Cobro en Caja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00" y="1920240"/>
            <a:ext cx="2743200" cy="105156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17152" y="1956816"/>
            <a:ext cx="259689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ENTRADAS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Tarifa vigente,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comprobante a cobrar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108960"/>
            <a:ext cx="2743200" cy="105156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17152" y="3145536"/>
            <a:ext cx="259689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PROCESO</a:t>
            </a:r>
          </a:p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Registro → Cobro → Liquidación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4297680"/>
            <a:ext cx="2743200" cy="105156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17152" y="4334256"/>
            <a:ext cx="2596896" cy="9875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SALIDAS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Boleta/factura</a:t>
            </a:r>
          </a:p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3D3D3D"/>
                </a:solidFill>
                <a:latin typeface="Calibri"/>
              </a:rPr>
              <a:t>cancelada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57784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1">
                <a:solidFill>
                  <a:srgbClr val="3D3D3D"/>
                </a:solidFill>
                <a:latin typeface="Calibri"/>
              </a:rPr>
              <a:t>Cada diagrama toma como proceso de nivel superior uno de los procesos priorizados y detalla su flujo entrada → proceso → salida.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A8B8"/>
                </a:solidFill>
                <a:latin typeface="Calibri"/>
              </a:rPr>
              <a:t>HERRAMIENTA H01.03.06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Ficha de Caracterización — V01.1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777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2EA8B8"/>
                </a:solidFill>
                <a:latin typeface="Calibr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Clínica Santa María Juliaca E.I.R.L. — Metodología H01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13/22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83A45"/>
                </a:solidFill>
                <a:latin typeface="Calibri"/>
              </a:rPr>
              <a:t>Admisión y Triaje del Paciente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50">
                <a:solidFill>
                  <a:srgbClr val="083A45"/>
                </a:solidFill>
                <a:latin typeface="Calibri"/>
              </a:rPr>
              <a:t>▪ Líder:  </a:t>
            </a:r>
            <a:r>
              <a:rPr sz="1150">
                <a:solidFill>
                  <a:srgbClr val="3D3D3D"/>
                </a:solidFill>
                <a:latin typeface="Calibri"/>
              </a:rPr>
              <a:t>Personal de Admisión / Enfermería de Triaje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83A45"/>
                </a:solidFill>
                <a:latin typeface="Calibri"/>
              </a:rPr>
              <a:t>▪ Áreas involucradas:  </a:t>
            </a:r>
            <a:r>
              <a:rPr sz="1150">
                <a:solidFill>
                  <a:srgbClr val="3D3D3D"/>
                </a:solidFill>
                <a:latin typeface="Calibri"/>
              </a:rPr>
              <a:t>Admisión; Enfermería/Triaje; Consulta Externa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83A45"/>
                </a:solidFill>
                <a:latin typeface="Calibri"/>
              </a:rPr>
              <a:t>▪ Finalidad:  </a:t>
            </a:r>
            <a:r>
              <a:rPr sz="1150">
                <a:solidFill>
                  <a:srgbClr val="3D3D3D"/>
                </a:solidFill>
                <a:latin typeface="Calibri"/>
              </a:rPr>
              <a:t>Orientar al paciente al ingresar, verificar su historia clínica y registrar sus datos y funciones vitales antes de la atención médica.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5577840" cy="141732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456432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D3D3D"/>
                </a:solidFill>
                <a:latin typeface="Calibri"/>
              </a:rPr>
              <a:t>Alcance: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D3D3D"/>
                </a:solidFill>
                <a:latin typeface="Calibri"/>
              </a:rPr>
              <a:t>Inicia con el ingreso del usuario y la orientación en admisión; comprende la verificación de la historia clínica y el registro de signos vitales; termina con el traslado de la historia clínica al consultorio en el orden de llegada.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640" y="1463040"/>
          <a:ext cx="5486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286000"/>
                <a:gridCol w="1463040"/>
              </a:tblGrid>
              <a:tr h="8229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Sub-procesos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Salidas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Usuario que ingresa;</a:t>
                      </a:r>
                    </a:p>
                    <a:p>
                      <a:r>
                        <a:t>historia clínica previa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V01.1.1 Orientación y</a:t>
                      </a:r>
                    </a:p>
                    <a:p>
                      <a:r>
                        <a:t>registro en admisión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Usuario orientado;</a:t>
                      </a:r>
                    </a:p>
                    <a:p>
                      <a:r>
                        <a:t>H.C. verificada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H.C. verificada;</a:t>
                      </a:r>
                    </a:p>
                    <a:p>
                      <a:r>
                        <a:t>usuario orientado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V01.1.2 Triaje y control</a:t>
                      </a:r>
                    </a:p>
                    <a:p>
                      <a:r>
                        <a:t>de funciones vitales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Signos vitales</a:t>
                      </a:r>
                    </a:p>
                    <a:p>
                      <a:r>
                        <a:t>registrados; H.C. en</a:t>
                      </a:r>
                    </a:p>
                    <a:p>
                      <a:r>
                        <a:t>consultorio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57200" y="4983480"/>
            <a:ext cx="5577840" cy="141732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056632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D3D3D"/>
                </a:solidFill>
                <a:latin typeface="Calibri"/>
              </a:rPr>
              <a:t>Indicadores propuestos: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D3D3D"/>
                </a:solidFill>
                <a:latin typeface="Calibri"/>
              </a:rPr>
              <a:t>Tiempo promedio de espera en admisión. % de historias clínicas verificadas sin observaciones. N° de pacientes atendidos en triaje por día.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114800"/>
            <a:ext cx="5486400" cy="228600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87952"/>
            <a:ext cx="521208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D3D3D"/>
                </a:solidFill>
                <a:latin typeface="Calibri"/>
              </a:rPr>
              <a:t>Oportunidades de mejora: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D3D3D"/>
                </a:solidFill>
                <a:latin typeface="Calibri"/>
              </a:rPr>
              <a:t>Digitalizar el registro de historias clínicas; estandarizar el tiempo máximo de espera; capacitar en el llenado completo de la ficha.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A8B8"/>
                </a:solidFill>
                <a:latin typeface="Calibri"/>
              </a:rPr>
              <a:t>HERRAMIENTA H01.03.06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Ficha de Caracterización — V04.1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777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2EA8B8"/>
                </a:solidFill>
                <a:latin typeface="Calibr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Clínica Santa María Juliaca E.I.R.L. — Metodología H01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14/22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83A45"/>
                </a:solidFill>
                <a:latin typeface="Calibri"/>
              </a:rPr>
              <a:t>Procedimiento Quirúrgico en Sala de Operaciones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50">
                <a:solidFill>
                  <a:srgbClr val="083A45"/>
                </a:solidFill>
                <a:latin typeface="Calibri"/>
              </a:rPr>
              <a:t>▪ Líder:  </a:t>
            </a:r>
            <a:r>
              <a:rPr sz="1150">
                <a:solidFill>
                  <a:srgbClr val="3D3D3D"/>
                </a:solidFill>
                <a:latin typeface="Calibri"/>
              </a:rPr>
              <a:t>Médico Especialista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83A45"/>
                </a:solidFill>
                <a:latin typeface="Calibri"/>
              </a:rPr>
              <a:t>▪ Áreas involucradas:  </a:t>
            </a:r>
            <a:r>
              <a:rPr sz="1150">
                <a:solidFill>
                  <a:srgbClr val="3D3D3D"/>
                </a:solidFill>
                <a:latin typeface="Calibri"/>
              </a:rPr>
              <a:t>Sala de Operaciones; Ginecología; Anestesiología; Enfermería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83A45"/>
                </a:solidFill>
                <a:latin typeface="Calibri"/>
              </a:rPr>
              <a:t>▪ Finalidad:  </a:t>
            </a:r>
            <a:r>
              <a:rPr sz="1150">
                <a:solidFill>
                  <a:srgbClr val="3D3D3D"/>
                </a:solidFill>
                <a:latin typeface="Calibri"/>
              </a:rPr>
              <a:t>Ejecutar la intervención quirúrgica programada en gineco-obstetricia de forma segura, cumpliendo el protocolo de cirugía segura y el monitoreo post-operatorio.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5577840" cy="141732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456432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D3D3D"/>
                </a:solidFill>
                <a:latin typeface="Calibri"/>
              </a:rPr>
              <a:t>Alcance: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D3D3D"/>
                </a:solidFill>
                <a:latin typeface="Calibri"/>
              </a:rPr>
              <a:t>Inicia con el ingreso a hospitalización y la firma del consentimiento informado; comprende el checklist de cirugía segura, la intervención y el reporte operatorio; termina con la evaluación post-operatoria y derivación a hospitalización.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640" y="1463040"/>
          <a:ext cx="5486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286000"/>
                <a:gridCol w="1463040"/>
              </a:tblGrid>
              <a:tr h="8229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Sub-procesos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Salidas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Paciente programada;</a:t>
                      </a:r>
                    </a:p>
                    <a:p>
                      <a:r>
                        <a:t>consentimiento; H.C.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V04.1.1 Preparación y</a:t>
                      </a:r>
                    </a:p>
                    <a:p>
                      <a:r>
                        <a:t>verificación de cirugía</a:t>
                      </a:r>
                    </a:p>
                    <a:p>
                      <a:r>
                        <a:t>segura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Paciente preparado;</a:t>
                      </a:r>
                    </a:p>
                    <a:p>
                      <a:r>
                        <a:t>checklist completo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Paciente preparado;</a:t>
                      </a:r>
                    </a:p>
                    <a:p>
                      <a:r>
                        <a:t>equipo listo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V04.1.2 Intervención</a:t>
                      </a:r>
                    </a:p>
                    <a:p>
                      <a:r>
                        <a:t>quirúrgica y monitoreo</a:t>
                      </a:r>
                    </a:p>
                    <a:p>
                      <a:r>
                        <a:t>post-operatorio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Cirugía realizada;</a:t>
                      </a:r>
                    </a:p>
                    <a:p>
                      <a:r>
                        <a:t>reporte operatorio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57200" y="4983480"/>
            <a:ext cx="5577840" cy="141732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056632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D3D3D"/>
                </a:solidFill>
                <a:latin typeface="Calibri"/>
              </a:rPr>
              <a:t>Indicadores propuestos: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D3D3D"/>
                </a:solidFill>
                <a:latin typeface="Calibri"/>
              </a:rPr>
              <a:t>% de cirugías con checklist de cirugía segura completo. Tiempo promedio de recuperación post-operatoria. N° de reingresos post-quirúrgicos.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114800"/>
            <a:ext cx="5486400" cy="228600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87952"/>
            <a:ext cx="521208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D3D3D"/>
                </a:solidFill>
                <a:latin typeface="Calibri"/>
              </a:rPr>
              <a:t>Oportunidades de mejora: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D3D3D"/>
                </a:solidFill>
                <a:latin typeface="Calibri"/>
              </a:rPr>
              <a:t>Formalizar un checklist estandarizado; digitalizar el reporte operatorio; medir tiempos de sala para optimizar la programación quirúrgica.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A8B8"/>
                </a:solidFill>
                <a:latin typeface="Calibri"/>
              </a:rPr>
              <a:t>HERRAMIENTA H01.03.06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Ficha de Caracterización — V05.1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777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2EA8B8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Clínica Santa María Juliaca E.I.R.L. — Metodología H01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15/22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83A45"/>
                </a:solidFill>
                <a:latin typeface="Calibri"/>
              </a:rPr>
              <a:t>Alta Médica y Entrega de Documentación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50">
                <a:solidFill>
                  <a:srgbClr val="083A45"/>
                </a:solidFill>
                <a:latin typeface="Calibri"/>
              </a:rPr>
              <a:t>▪ Líder:  </a:t>
            </a:r>
            <a:r>
              <a:rPr sz="1150">
                <a:solidFill>
                  <a:srgbClr val="3D3D3D"/>
                </a:solidFill>
                <a:latin typeface="Calibri"/>
              </a:rPr>
              <a:t>Médico Tratante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83A45"/>
                </a:solidFill>
                <a:latin typeface="Calibri"/>
              </a:rPr>
              <a:t>▪ Áreas involucradas:  </a:t>
            </a:r>
            <a:r>
              <a:rPr sz="1150">
                <a:solidFill>
                  <a:srgbClr val="3D3D3D"/>
                </a:solidFill>
                <a:latin typeface="Calibri"/>
              </a:rPr>
              <a:t>Hospitalización; Enfermería; Caja - Oficina de Economía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83A45"/>
                </a:solidFill>
                <a:latin typeface="Calibri"/>
              </a:rPr>
              <a:t>▪ Finalidad:  </a:t>
            </a:r>
            <a:r>
              <a:rPr sz="1150">
                <a:solidFill>
                  <a:srgbClr val="3D3D3D"/>
                </a:solidFill>
                <a:latin typeface="Calibri"/>
              </a:rPr>
              <a:t>Evaluar al paciente para determinar su alta y entregar la documentación clínica y administrativa completa para el seguimiento ambulatorio.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5577840" cy="141732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456432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D3D3D"/>
                </a:solidFill>
                <a:latin typeface="Calibri"/>
              </a:rPr>
              <a:t>Alcance: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D3D3D"/>
                </a:solidFill>
                <a:latin typeface="Calibri"/>
              </a:rPr>
              <a:t>Inicia con la evaluación del médico tratante y la determinación del alta; comprende el llenado de epicrisis e informe de alta y la liquidación en caja; termina con la entrega de receta, informe y comprobante de pago.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640" y="1463040"/>
          <a:ext cx="5486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286000"/>
                <a:gridCol w="1463040"/>
              </a:tblGrid>
              <a:tr h="8229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Sub-procesos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Salidas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Paciente en condición</a:t>
                      </a:r>
                    </a:p>
                    <a:p>
                      <a:r>
                        <a:t>de alta; H.C. con evolución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V05.1.1 Evaluación y</a:t>
                      </a:r>
                    </a:p>
                    <a:p>
                      <a:r>
                        <a:t>aprobación del alta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Alta determinada;</a:t>
                      </a:r>
                    </a:p>
                    <a:p>
                      <a:r>
                        <a:t>epicrisis firmada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Epicrisis; indicaciones</a:t>
                      </a:r>
                    </a:p>
                    <a:p>
                      <a:r>
                        <a:t>de seguimiento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V05.1.2 Entrega de</a:t>
                      </a:r>
                    </a:p>
                    <a:p>
                      <a:r>
                        <a:t>informe, receta y</a:t>
                      </a:r>
                    </a:p>
                    <a:p>
                      <a:r>
                        <a:t>liquidación de cuenta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Boleta cancelada;</a:t>
                      </a:r>
                    </a:p>
                    <a:p>
                      <a:r>
                        <a:t>documentos entregados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57200" y="4983480"/>
            <a:ext cx="5577840" cy="141732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056632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D3D3D"/>
                </a:solidFill>
                <a:latin typeface="Calibri"/>
              </a:rPr>
              <a:t>Indicadores propuestos: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D3D3D"/>
                </a:solidFill>
                <a:latin typeface="Calibri"/>
              </a:rPr>
              <a:t>Tiempo entre evaluación de alta y entrega de documentación. % de altas con epicrisis completa. N° de reingresos posteriores al alta.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114800"/>
            <a:ext cx="5486400" cy="228600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87952"/>
            <a:ext cx="521208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D3D3D"/>
                </a:solidFill>
                <a:latin typeface="Calibri"/>
              </a:rPr>
              <a:t>Oportunidades de mejora: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D3D3D"/>
                </a:solidFill>
                <a:latin typeface="Calibri"/>
              </a:rPr>
              <a:t>Estandarizar tiempos entre evaluación y entrega; digitalizar epicrisis e informe de alta; coordinar con caja para agilizar la liquidación.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A8B8"/>
                </a:solidFill>
                <a:latin typeface="Calibri"/>
              </a:rPr>
              <a:t>HERRAMIENTA H01.03.06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Ficha de Caracterización — SN01.1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777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2EA8B8"/>
                </a:solidFill>
                <a:latin typeface="Calibr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Clínica Santa María Juliaca E.I.R.L. — Metodología H01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16/22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5156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83A45"/>
                </a:solidFill>
                <a:latin typeface="Calibri"/>
              </a:rPr>
              <a:t>Cobro y Liquidación de Atenciones en Caja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463040"/>
            <a:ext cx="55778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150">
                <a:solidFill>
                  <a:srgbClr val="083A45"/>
                </a:solidFill>
                <a:latin typeface="Calibri"/>
              </a:rPr>
              <a:t>▪ Líder:  </a:t>
            </a:r>
            <a:r>
              <a:rPr sz="1150">
                <a:solidFill>
                  <a:srgbClr val="3D3D3D"/>
                </a:solidFill>
                <a:latin typeface="Calibri"/>
              </a:rPr>
              <a:t>Cajero - Oficina de Economía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83A45"/>
                </a:solidFill>
                <a:latin typeface="Calibri"/>
              </a:rPr>
              <a:t>▪ Áreas involucradas:  </a:t>
            </a:r>
            <a:r>
              <a:rPr sz="1150">
                <a:solidFill>
                  <a:srgbClr val="3D3D3D"/>
                </a:solidFill>
                <a:latin typeface="Calibri"/>
              </a:rPr>
              <a:t>Caja - Oficina de Economía; Admisión; Hospitalización</a:t>
            </a:r>
          </a:p>
          <a:p>
            <a:pPr>
              <a:spcAft>
                <a:spcPts val="800"/>
              </a:spcAft>
            </a:pPr>
            <a:r>
              <a:rPr b="1" sz="1150">
                <a:solidFill>
                  <a:srgbClr val="083A45"/>
                </a:solidFill>
                <a:latin typeface="Calibri"/>
              </a:rPr>
              <a:t>▪ Finalidad:  </a:t>
            </a:r>
            <a:r>
              <a:rPr sz="1150">
                <a:solidFill>
                  <a:srgbClr val="3D3D3D"/>
                </a:solidFill>
                <a:latin typeface="Calibri"/>
              </a:rPr>
              <a:t>Registrar y cobrar oportunamente las tarifas de consulta, procedimientos y hospitalización, entregando el comprobante de pago correspondiente.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383280"/>
            <a:ext cx="5577840" cy="141732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456432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D3D3D"/>
                </a:solidFill>
                <a:latin typeface="Calibri"/>
              </a:rPr>
              <a:t>Alcance:</a:t>
            </a:r>
          </a:p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3D3D3D"/>
                </a:solidFill>
                <a:latin typeface="Calibri"/>
              </a:rPr>
              <a:t>Inicia con la solicitud de cobro por consulta, procedimiento o alta; comprende la verificación del costo y el cobro; termina con la entrega de la boleta/factura sellada y el archivo de las copias en la historia clínica.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263640" y="1463040"/>
          <a:ext cx="5486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286000"/>
                <a:gridCol w="1463040"/>
              </a:tblGrid>
              <a:tr h="8229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Entradas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Sub-procesos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Salidas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Tarifa vigente;</a:t>
                      </a:r>
                    </a:p>
                    <a:p>
                      <a:r>
                        <a:t>comprobante a cobrar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SN01.1.1 Registro de</a:t>
                      </a:r>
                    </a:p>
                    <a:p>
                      <a:r>
                        <a:t>comprobante y cobro</a:t>
                      </a:r>
                    </a:p>
                    <a:p>
                      <a:r>
                        <a:t>de tarifa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Boleta/factura</a:t>
                      </a:r>
                    </a:p>
                    <a:p>
                      <a:r>
                        <a:t>generada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Boleta generada;</a:t>
                      </a:r>
                    </a:p>
                    <a:p>
                      <a:r>
                        <a:t>monto cobrado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SN01.1.2 Liquidación y</a:t>
                      </a:r>
                    </a:p>
                    <a:p>
                      <a:r>
                        <a:t>cierre de cuenta del</a:t>
                      </a:r>
                    </a:p>
                    <a:p>
                      <a:r>
                        <a:t>paciente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3D3D3D"/>
                          </a:solidFill>
                          <a:latin typeface="Calibri"/>
                        </a:rPr>
                        <a:t>Boleta cancelada;</a:t>
                      </a:r>
                    </a:p>
                    <a:p>
                      <a:r>
                        <a:t>cuenta cerrada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Rectangle 13"/>
          <p:cNvSpPr/>
          <p:nvPr/>
        </p:nvSpPr>
        <p:spPr>
          <a:xfrm>
            <a:off x="457200" y="4983480"/>
            <a:ext cx="5577840" cy="141732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5056632"/>
            <a:ext cx="53035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D3D3D"/>
                </a:solidFill>
                <a:latin typeface="Calibri"/>
              </a:rPr>
              <a:t>Indicadores propuestos: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D3D3D"/>
                </a:solidFill>
                <a:latin typeface="Calibri"/>
              </a:rPr>
              <a:t>Tiempo promedio de atención en caja. % de cuentas liquidadas sin observaciones. N° de comprobantes emitidos por día.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114800"/>
            <a:ext cx="5486400" cy="228600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187952"/>
            <a:ext cx="521208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D3D3D"/>
                </a:solidFill>
                <a:latin typeface="Calibri"/>
              </a:rPr>
              <a:t>Oportunidades de mejora:</a:t>
            </a:r>
          </a:p>
          <a:p>
            <a:pPr algn="l">
              <a:lnSpc>
                <a:spcPct val="100000"/>
              </a:lnSpc>
            </a:pPr>
            <a:r>
              <a:rPr sz="1050" b="0" i="0">
                <a:solidFill>
                  <a:srgbClr val="3D3D3D"/>
                </a:solidFill>
                <a:latin typeface="Calibri"/>
              </a:rPr>
              <a:t>Implementar facturación electrónica; estandarizar el tarifario vigente; reducir el tiempo de espera en caja con un tarifario digital.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A8B8"/>
                </a:solidFill>
                <a:latin typeface="Calibri"/>
              </a:rPr>
              <a:t>HERRAMIENTA H01.04.01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Manual de Gestión de Procesos Prioritarios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777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2EA8B8"/>
                </a:solidFill>
                <a:latin typeface="Calibri"/>
              </a:rPr>
              <a:t>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Clínica Santa María Juliaca E.I.R.L. — Metodología H01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17/22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83A45"/>
                </a:solidFill>
                <a:latin typeface="Calibri"/>
              </a:rPr>
              <a:t>▪ Objetivo:  </a:t>
            </a:r>
            <a:r>
              <a:rPr sz="1400">
                <a:solidFill>
                  <a:srgbClr val="3D3D3D"/>
                </a:solidFill>
                <a:latin typeface="Calibri"/>
              </a:rPr>
              <a:t>establecer y documentar los procedimientos de los procesos prioritarios, definiendo responsabilidades, secuencia, controles y registros.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83A45"/>
                </a:solidFill>
                <a:latin typeface="Calibri"/>
              </a:rPr>
              <a:t>▪ Alcance:  </a:t>
            </a:r>
            <a:r>
              <a:rPr sz="1400">
                <a:solidFill>
                  <a:srgbClr val="3D3D3D"/>
                </a:solidFill>
                <a:latin typeface="Calibri"/>
              </a:rPr>
              <a:t>Admisión, Enfermería, Médicos, Anestesiología, Sala de Operaciones y Oficina de Economía.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0604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83A45"/>
                </a:solidFill>
                <a:latin typeface="Calibri"/>
              </a:rPr>
              <a:t>Lineamientos principales: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7180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300">
                <a:solidFill>
                  <a:srgbClr val="083A45"/>
                </a:solidFill>
                <a:latin typeface="Calibri"/>
              </a:rPr>
              <a:t>▪ Admisión y triaje:  </a:t>
            </a:r>
            <a:r>
              <a:rPr sz="1300">
                <a:solidFill>
                  <a:srgbClr val="3D3D3D"/>
                </a:solidFill>
                <a:latin typeface="Calibri"/>
              </a:rPr>
              <a:t>todo usuario es orientado y su historia clínica se verifica antes de la atención.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83A45"/>
                </a:solidFill>
                <a:latin typeface="Calibri"/>
              </a:rPr>
              <a:t>▪ Cirugía segura:  </a:t>
            </a:r>
            <a:r>
              <a:rPr sz="1300">
                <a:solidFill>
                  <a:srgbClr val="3D3D3D"/>
                </a:solidFill>
                <a:latin typeface="Calibri"/>
              </a:rPr>
              <a:t>toda intervención exige consentimiento informado y checklist previo.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83A45"/>
                </a:solidFill>
                <a:latin typeface="Calibri"/>
              </a:rPr>
              <a:t>▪ Alta médica:  </a:t>
            </a:r>
            <a:r>
              <a:rPr sz="1300">
                <a:solidFill>
                  <a:srgbClr val="3D3D3D"/>
                </a:solidFill>
                <a:latin typeface="Calibri"/>
              </a:rPr>
              <a:t>requiere evaluación del médico tratante, epicrisis e informe de alta.</a:t>
            </a:r>
          </a:p>
          <a:p>
            <a:pPr>
              <a:spcAft>
                <a:spcPts val="800"/>
              </a:spcAft>
            </a:pPr>
            <a:r>
              <a:rPr b="1" sz="1300">
                <a:solidFill>
                  <a:srgbClr val="083A45"/>
                </a:solidFill>
                <a:latin typeface="Calibri"/>
              </a:rPr>
              <a:t>▪ Cobro y liquidación:  </a:t>
            </a:r>
            <a:r>
              <a:rPr sz="1300">
                <a:solidFill>
                  <a:srgbClr val="3D3D3D"/>
                </a:solidFill>
                <a:latin typeface="Calibri"/>
              </a:rPr>
              <a:t>toda atención se verifica contra la tarifa vigente antes del cobro.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93776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 i="0">
                <a:solidFill>
                  <a:srgbClr val="083A45"/>
                </a:solidFill>
                <a:latin typeface="Calibri"/>
              </a:rPr>
              <a:t>Disposiciones complementarias: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303520"/>
            <a:ext cx="10972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>
                <a:solidFill>
                  <a:srgbClr val="3D3D3D"/>
                </a:solidFill>
                <a:latin typeface="Calibri"/>
              </a:rPr>
              <a:t>▪ Los procedimientos se actualizan cuando cambie la Matriz de Procesos, la Ficha de Caracterización o el Manual de Procedimientos de la clínica.</a:t>
            </a:r>
          </a:p>
          <a:p>
            <a:pPr>
              <a:spcAft>
                <a:spcPts val="600"/>
              </a:spcAft>
            </a:pPr>
            <a:r>
              <a:rPr sz="1250">
                <a:solidFill>
                  <a:srgbClr val="3D3D3D"/>
                </a:solidFill>
                <a:latin typeface="Calibri"/>
              </a:rPr>
              <a:t>▪ Los campos pendientes de formalización no se interpretan como normas aprobadas.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A8B8"/>
                </a:solidFill>
                <a:latin typeface="Calibri"/>
              </a:rPr>
              <a:t>HERRAMIENTA H01.04.02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Guía de Actividades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777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2EA8B8"/>
                </a:solidFill>
                <a:latin typeface="Calibr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Clínica Santa María Juliaca E.I.R.L. — Metodología H01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18/22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18872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83A45"/>
                </a:solidFill>
                <a:latin typeface="Calibri"/>
              </a:rPr>
              <a:t>▪ Finalidad:  </a:t>
            </a:r>
            <a:r>
              <a:rPr sz="1400">
                <a:solidFill>
                  <a:srgbClr val="3D3D3D"/>
                </a:solidFill>
                <a:latin typeface="Calibri"/>
              </a:rPr>
              <a:t>detallar a nivel de tareas las actividades operativas y de control de los procedimientos del Manual de Gestión (H01.04.01), para una ejecución uniforme y trazable.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83A45"/>
                </a:solidFill>
                <a:latin typeface="Calibri"/>
              </a:rPr>
              <a:t>▪ Alcance:  </a:t>
            </a:r>
            <a:r>
              <a:rPr sz="1400">
                <a:solidFill>
                  <a:srgbClr val="3D3D3D"/>
                </a:solidFill>
                <a:latin typeface="Calibri"/>
              </a:rPr>
              <a:t>desarrolla las actividades de los 8 procedimientos priorizados, desde admisión hasta liquidación de cuenta.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11292840" cy="265176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6324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83A45"/>
                </a:solidFill>
                <a:latin typeface="Calibri"/>
              </a:rPr>
              <a:t>Ejemplo — Preparación y verificación de cirugía segura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10515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0">
                <a:solidFill>
                  <a:srgbClr val="3D3D3D"/>
                </a:solidFill>
                <a:latin typeface="Calibri"/>
              </a:rPr>
              <a:t>Enfermería y el Anestesiólogo verifican la identidad del paciente, revisan el consentimiento informado firmado y aplican la lista de chequeo de cirugía segura antes del ingreso a sala de operaciones, dejando el registro correspondiente en la historia clínica.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A8B8"/>
                </a:solidFill>
                <a:latin typeface="Calibri"/>
              </a:rPr>
              <a:t>RESUMEN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Documentos elaborados con la Metodología H01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777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2EA8B8"/>
                </a:solidFill>
                <a:latin typeface="Calibri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Clínica Santa María Juliaca E.I.R.L. — Metodología H01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19/22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234440"/>
          <a:ext cx="60350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4572000"/>
              </a:tblGrid>
              <a:tr h="41563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Código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Herramienta</a:t>
                      </a:r>
                    </a:p>
                  </a:txBody>
                  <a:tcPr marL="50800" marR="50800" marT="25400" marB="25400" anchor="ctr">
                    <a:solidFill>
                      <a:srgbClr val="0E5E6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  <a:latin typeface="Calibri"/>
                        </a:rPr>
                        <a:t>H01.01.01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  <a:latin typeface="Calibri"/>
                        </a:rPr>
                        <a:t>Matriz Productos - Clientes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  <a:latin typeface="Calibri"/>
                        </a:rPr>
                        <a:t>H01.02.01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  <a:latin typeface="Calibri"/>
                        </a:rPr>
                        <a:t>Listado de Procesos Productos - Clientes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  <a:latin typeface="Calibri"/>
                        </a:rPr>
                        <a:t>H01.03.01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  <a:latin typeface="Calibri"/>
                        </a:rPr>
                        <a:t>Mapa de Procesos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  <a:latin typeface="Calibri"/>
                        </a:rPr>
                        <a:t>H01.03.02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  <a:latin typeface="Calibri"/>
                        </a:rPr>
                        <a:t>Análisis de Alineamiento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  <a:latin typeface="Calibri"/>
                        </a:rPr>
                        <a:t>H01.03.03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  <a:latin typeface="Calibri"/>
                        </a:rPr>
                        <a:t>Matriz de Procesos Estratégicos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  <a:latin typeface="Calibri"/>
                        </a:rPr>
                        <a:t>H01.03.04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  <a:latin typeface="Calibri"/>
                        </a:rPr>
                        <a:t>Listado y Priorización de Procesos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  <a:latin typeface="Calibri"/>
                        </a:rPr>
                        <a:t>H01.03.05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  <a:latin typeface="Calibri"/>
                        </a:rPr>
                        <a:t>Diagrama de Bloques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  <a:latin typeface="Calibri"/>
                        </a:rPr>
                        <a:t>H01.03.06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  <a:latin typeface="Calibri"/>
                        </a:rPr>
                        <a:t>Fichas de Caracterización de Procesos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  <a:tr h="41563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  <a:latin typeface="Calibri"/>
                        </a:rPr>
                        <a:t>H01.04.01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  <a:latin typeface="Calibri"/>
                        </a:rPr>
                        <a:t>Manual de Gestión de Procesos Prioritarios</a:t>
                      </a:r>
                    </a:p>
                  </a:txBody>
                  <a:tcPr marL="50800" marR="50800" marT="25400" marB="25400" anchor="ctr">
                    <a:solidFill>
                      <a:srgbClr val="F4FAFB"/>
                    </a:solidFill>
                  </a:tcPr>
                </a:tc>
              </a:tr>
              <a:tr h="41564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  <a:latin typeface="Calibri"/>
                        </a:rPr>
                        <a:t>H01.04.02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3D3D3D"/>
                          </a:solidFill>
                          <a:latin typeface="Calibri"/>
                        </a:rPr>
                        <a:t>Guía de Actividades</a:t>
                      </a:r>
                    </a:p>
                  </a:txBody>
                  <a:tcPr marL="50800" marR="508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766560" y="1234440"/>
            <a:ext cx="4937760" cy="4572000"/>
          </a:xfrm>
          <a:prstGeom prst="rect">
            <a:avLst/>
          </a:prstGeom>
          <a:solidFill>
            <a:srgbClr val="F4FAFB"/>
          </a:solidFill>
          <a:ln w="12700">
            <a:solidFill>
              <a:srgbClr val="083A4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137160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83A45"/>
                </a:solidFill>
                <a:latin typeface="Calibri"/>
              </a:rPr>
              <a:t>Nota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49440" y="1783080"/>
            <a:ext cx="4480560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D3D3D"/>
                </a:solidFill>
                <a:latin typeface="Calibri"/>
              </a:rPr>
              <a:t>Estos 10 documentos son los oficiales de la metodología H01 y cubren todo el trabajo de punta a punta: identificación de servicios → priorización de procesos → caracterización → gestión operativa.</a:t>
            </a:r>
          </a:p>
          <a:p>
            <a:pPr algn="l">
              <a:lnSpc>
                <a:spcPct val="100000"/>
              </a:lnSpc>
            </a:pPr>
          </a:p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3D3D3D"/>
                </a:solidFill>
                <a:latin typeface="Calibri"/>
              </a:rPr>
              <a:t>Se descartó del set de exposición un archivo duplicado y corrupto de Análisis de Alineamiento, y una versión preliminar y repetida del Mapa de Procesos, por no aportar información adicional.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E5E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08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2EA8B8"/>
                </a:solidFill>
                <a:latin typeface="Calibri"/>
              </a:rPr>
              <a:t>CIERRE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i="0">
                <a:solidFill>
                  <a:srgbClr val="FFFFFF"/>
                </a:solidFill>
                <a:latin typeface="Calibri"/>
              </a:rPr>
              <a:t>Conclusiones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73152"/>
            <a:ext cx="777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600" b="1" i="0">
                <a:solidFill>
                  <a:srgbClr val="2EA8B8"/>
                </a:solidFill>
                <a:latin typeface="Calibri"/>
              </a:rPr>
              <a:t>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Clínica Santa María Juliaca E.I.R.L. — Metodología H01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3796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A0A6A7"/>
                </a:solidFill>
                <a:latin typeface="Calibri"/>
              </a:rPr>
              <a:t>20/22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34440"/>
            <a:ext cx="112471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450">
                <a:solidFill>
                  <a:srgbClr val="3D3D3D"/>
                </a:solidFill>
                <a:latin typeface="Calibri"/>
              </a:rPr>
              <a:t>▪ La Clínica Santa María Juliaca cuenta con procesos claramente identificados y alineados a su estrategia institucional, con puntajes que superan el umbral en los 14 macroprocesos evaluados.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3D3D3D"/>
                </a:solidFill>
                <a:latin typeface="Calibri"/>
              </a:rPr>
              <a:t>▪ De 17 procesos evaluados, 4 fueron priorizados por su alto impacto en el paciente, riesgo clínico y cumplimiento legal: Atención de Enfermería en Hospitalización, Triaje, Hospitalización y Gestión de Riesgos y Seguridad del Paciente.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3D3D3D"/>
                </a:solidFill>
                <a:latin typeface="Calibri"/>
              </a:rPr>
              <a:t>▪ El equipo caracterizó y documentó en detalle los procesos de Admisión-Triaje, Cirugía, Alta Médica y Cobro en Caja, con sus fichas SIPOC, diagramas de bloques y actividades operativas.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3D3D3D"/>
                </a:solidFill>
                <a:latin typeface="Calibri"/>
              </a:rPr>
              <a:t>▪ El principal hallazgo de mejora es la falta de digitalización: historias clínicas, tarifario y checklists de seguridad se manejan de forma manual/física en toda la clínica.</a:t>
            </a:r>
          </a:p>
          <a:p>
            <a:pPr>
              <a:spcAft>
                <a:spcPts val="1400"/>
              </a:spcAft>
            </a:pPr>
            <a:r>
              <a:rPr sz="1450">
                <a:solidFill>
                  <a:srgbClr val="3D3D3D"/>
                </a:solidFill>
                <a:latin typeface="Calibri"/>
              </a:rPr>
              <a:t>▪ El Manual de Gestión y la Guía de Actividades integran y estandarizan todo lo anterior como el sistema de gestión de procesos prioritarios propuesto para la organización.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5E6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017520"/>
            <a:ext cx="12191695" cy="38100"/>
          </a:xfrm>
          <a:prstGeom prst="rect">
            <a:avLst/>
          </a:prstGeom>
          <a:solidFill>
            <a:srgbClr val="2EA8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 i="0">
                <a:solidFill>
                  <a:srgbClr val="FFFFFF"/>
                </a:solidFill>
                <a:latin typeface="Calibri"/>
              </a:rPr>
              <a:t>GRACIAS POR SU ATENCIÓN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 i="1">
                <a:solidFill>
                  <a:srgbClr val="DDF0F2"/>
                </a:solidFill>
                <a:latin typeface="Calibri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0350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B9DDE1"/>
                </a:solidFill>
                <a:latin typeface="Calibri"/>
              </a:rPr>
              <a:t>Clínica Santa María Juliaca E.I.R.L. — Metodología H01 — Setiembre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