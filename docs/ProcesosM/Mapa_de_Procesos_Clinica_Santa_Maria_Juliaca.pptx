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525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-822960"/>
            <a:ext cx="2194560" cy="2194560"/>
          </a:xfrm>
          <a:prstGeom prst="ellipse">
            <a:avLst/>
          </a:prstGeom>
          <a:ln w="1587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46120" y="5394960"/>
            <a:ext cx="2377440" cy="2377440"/>
          </a:xfrm>
          <a:prstGeom prst="ellipse">
            <a:avLst/>
          </a:prstGeom>
          <a:ln w="1587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0180" y="2148840"/>
            <a:ext cx="1463040" cy="1463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work/icons/emblem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660" y="25603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65760" y="3886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SANTA MARÍA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422452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JULIACA E.I.R.L.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482803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</a:t>
            </a:r>
            <a:endParaRPr lang="en-US" sz="9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95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CALIDAD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1965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POR PROCESOS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233172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</a:t>
            </a:r>
            <a:endParaRPr lang="en-US" sz="5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PROCESOS</a:t>
            </a:r>
            <a:endParaRPr lang="en-US" sz="5000" dirty="0"/>
          </a:p>
        </p:txBody>
      </p:sp>
      <p:sp>
        <p:nvSpPr>
          <p:cNvPr id="12" name="Shape 9"/>
          <p:cNvSpPr/>
          <p:nvPr/>
        </p:nvSpPr>
        <p:spPr>
          <a:xfrm>
            <a:off x="4526280" y="4343400"/>
            <a:ext cx="896112" cy="384048"/>
          </a:xfrm>
          <a:prstGeom prst="roundRect">
            <a:avLst>
              <a:gd name="adj" fmla="val 50000"/>
            </a:avLst>
          </a:prstGeom>
          <a:solidFill>
            <a:srgbClr val="1D355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26280" y="4343400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559552" y="434340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24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y Documentación de Procesos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26280" y="5074920"/>
            <a:ext cx="2011680" cy="0"/>
          </a:xfrm>
          <a:prstGeom prst="line">
            <a:avLst/>
          </a:prstGeom>
          <a:noFill/>
          <a:ln w="15875">
            <a:solidFill>
              <a:srgbClr val="D9DEE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26280" y="617220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metodológica: Guía H01.03.01 Mapa de Procesos V2.0  |  Herramienta H01.03.01 Mapa de Procesos V2.0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1D35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PROCESOS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603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6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Santa María Juliaca E.I.R.L.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78992"/>
            <a:ext cx="12344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</a:t>
            </a:r>
            <a:endParaRPr lang="en-US" sz="12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ESTRATÉGICOS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783080" y="1078992"/>
            <a:ext cx="2741066" cy="841248"/>
          </a:xfrm>
          <a:prstGeom prst="roundRect">
            <a:avLst>
              <a:gd name="adj" fmla="val 10870"/>
            </a:avLst>
          </a:prstGeom>
          <a:solidFill>
            <a:srgbClr val="E9EDF4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11096" y="1261872"/>
            <a:ext cx="475488" cy="475488"/>
          </a:xfrm>
          <a:prstGeom prst="ellipse">
            <a:avLst/>
          </a:prstGeom>
          <a:solidFill>
            <a:srgbClr val="1D3557"/>
          </a:solidFill>
          <a:ln/>
        </p:spPr>
      </p:sp>
      <p:pic>
        <p:nvPicPr>
          <p:cNvPr id="9" name="Image 0" descr="/home/claude/work/icons/e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824" y="1371600"/>
            <a:ext cx="256032" cy="25603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514600" y="1133856"/>
            <a:ext cx="197297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E01. </a:t>
            </a:r>
            <a:r>
              <a:rPr lang="en-US" sz="1050" dirty="0">
                <a:solidFill>
                  <a:srgbClr val="24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y Planificación Gerencial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25314" y="1078992"/>
            <a:ext cx="2741066" cy="841248"/>
          </a:xfrm>
          <a:prstGeom prst="roundRect">
            <a:avLst>
              <a:gd name="adj" fmla="val 10870"/>
            </a:avLst>
          </a:prstGeom>
          <a:solidFill>
            <a:srgbClr val="E9EDF4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53330" y="1261872"/>
            <a:ext cx="475488" cy="475488"/>
          </a:xfrm>
          <a:prstGeom prst="ellipse">
            <a:avLst/>
          </a:prstGeom>
          <a:solidFill>
            <a:srgbClr val="1D3557"/>
          </a:solidFill>
          <a:ln/>
        </p:spPr>
      </p:sp>
      <p:pic>
        <p:nvPicPr>
          <p:cNvPr id="13" name="Image 1" descr="/home/claude/work/icons/e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3058" y="137160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56834" y="1133856"/>
            <a:ext cx="197297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E02. </a:t>
            </a:r>
            <a:r>
              <a:rPr lang="en-US" sz="1050" dirty="0">
                <a:solidFill>
                  <a:srgbClr val="24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Calidad e Inocuidad (Calidad y Seguridad del Paciente)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667549" y="1078992"/>
            <a:ext cx="2741066" cy="841248"/>
          </a:xfrm>
          <a:prstGeom prst="roundRect">
            <a:avLst>
              <a:gd name="adj" fmla="val 10870"/>
            </a:avLst>
          </a:prstGeom>
          <a:solidFill>
            <a:srgbClr val="E9EDF4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95565" y="1261872"/>
            <a:ext cx="475488" cy="475488"/>
          </a:xfrm>
          <a:prstGeom prst="ellipse">
            <a:avLst/>
          </a:prstGeom>
          <a:solidFill>
            <a:srgbClr val="1D3557"/>
          </a:solidFill>
          <a:ln/>
        </p:spPr>
      </p:sp>
      <p:pic>
        <p:nvPicPr>
          <p:cNvPr id="17" name="Image 2" descr="/home/claude/work/icons/e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293" y="1371600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99069" y="1133856"/>
            <a:ext cx="197297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E03. </a:t>
            </a:r>
            <a:r>
              <a:rPr lang="en-US" sz="1050" dirty="0">
                <a:solidFill>
                  <a:srgbClr val="24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Normativa e Institucional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228600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</a:t>
            </a:r>
            <a:endParaRPr lang="en-US" sz="12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VALOR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1645920" y="2212848"/>
            <a:ext cx="8899855" cy="2596896"/>
          </a:xfrm>
          <a:prstGeom prst="roundRect">
            <a:avLst>
              <a:gd name="adj" fmla="val 4930"/>
            </a:avLst>
          </a:prstGeom>
          <a:solidFill>
            <a:srgbClr val="E1F2F1"/>
          </a:solidFill>
          <a:ln/>
        </p:spPr>
      </p:sp>
      <p:sp>
        <p:nvSpPr>
          <p:cNvPr id="21" name="Shape 16"/>
          <p:cNvSpPr/>
          <p:nvPr/>
        </p:nvSpPr>
        <p:spPr>
          <a:xfrm>
            <a:off x="2645634" y="2852928"/>
            <a:ext cx="6900428" cy="0"/>
          </a:xfrm>
          <a:prstGeom prst="line">
            <a:avLst/>
          </a:prstGeom>
          <a:noFill/>
          <a:ln w="31750">
            <a:solidFill>
              <a:srgbClr val="0F8B8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2270730" y="2478024"/>
            <a:ext cx="749808" cy="749808"/>
          </a:xfrm>
          <a:prstGeom prst="ellipse">
            <a:avLst/>
          </a:prstGeom>
          <a:solidFill>
            <a:srgbClr val="0F8B8D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3" name="Image 3" descr="/home/claude/work/icons/v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2754" y="2670048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828800" y="3282696"/>
            <a:ext cx="163366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V01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1911096" y="3538728"/>
            <a:ext cx="1469075" cy="1106424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1984248" y="3584448"/>
            <a:ext cx="1322771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24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Admisión y Atención en Consulta Externa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3995837" y="2478024"/>
            <a:ext cx="749808" cy="749808"/>
          </a:xfrm>
          <a:prstGeom prst="ellipse">
            <a:avLst/>
          </a:prstGeom>
          <a:solidFill>
            <a:srgbClr val="0F8B8D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8" name="Image 4" descr="/home/claude/work/icons/v0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7861" y="2670048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3553907" y="3282696"/>
            <a:ext cx="163366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V02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3636203" y="3538728"/>
            <a:ext cx="1469075" cy="1106424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3709355" y="3584448"/>
            <a:ext cx="1322771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24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Hospitalización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5720944" y="2478024"/>
            <a:ext cx="749808" cy="749808"/>
          </a:xfrm>
          <a:prstGeom prst="ellipse">
            <a:avLst/>
          </a:prstGeom>
          <a:solidFill>
            <a:srgbClr val="0F8B8D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33" name="Image 5" descr="/home/claude/work/icons/v0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2968" y="2670048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5279014" y="3282696"/>
            <a:ext cx="163366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V03</a:t>
            </a:r>
            <a:endParaRPr lang="en-US" sz="1250" dirty="0"/>
          </a:p>
        </p:txBody>
      </p:sp>
      <p:sp>
        <p:nvSpPr>
          <p:cNvPr id="35" name="Shape 27"/>
          <p:cNvSpPr/>
          <p:nvPr/>
        </p:nvSpPr>
        <p:spPr>
          <a:xfrm>
            <a:off x="5361310" y="3538728"/>
            <a:ext cx="1469075" cy="1106424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5434462" y="3584448"/>
            <a:ext cx="1322771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24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y Procedimientos en Ginecología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7446051" y="2478024"/>
            <a:ext cx="749808" cy="749808"/>
          </a:xfrm>
          <a:prstGeom prst="ellipse">
            <a:avLst/>
          </a:prstGeom>
          <a:solidFill>
            <a:srgbClr val="0F8B8D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38" name="Image 6" descr="/home/claude/work/icons/v0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8075" y="2670048"/>
            <a:ext cx="365760" cy="36576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7004121" y="3282696"/>
            <a:ext cx="163366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V04</a:t>
            </a:r>
            <a:endParaRPr lang="en-US" sz="1250" dirty="0"/>
          </a:p>
        </p:txBody>
      </p:sp>
      <p:sp>
        <p:nvSpPr>
          <p:cNvPr id="40" name="Shape 31"/>
          <p:cNvSpPr/>
          <p:nvPr/>
        </p:nvSpPr>
        <p:spPr>
          <a:xfrm>
            <a:off x="7086417" y="3538728"/>
            <a:ext cx="1469075" cy="1106424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7159569" y="3584448"/>
            <a:ext cx="1322771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24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 Quirúrgicos (Sala de Operaciones)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9171158" y="2478024"/>
            <a:ext cx="749808" cy="749808"/>
          </a:xfrm>
          <a:prstGeom prst="ellipse">
            <a:avLst/>
          </a:prstGeom>
          <a:solidFill>
            <a:srgbClr val="0F8B8D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43" name="Image 7" descr="/home/claude/work/icons/v0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3182" y="2670048"/>
            <a:ext cx="365760" cy="36576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8729228" y="3282696"/>
            <a:ext cx="163366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V05</a:t>
            </a:r>
            <a:endParaRPr lang="en-US" sz="1250" dirty="0"/>
          </a:p>
        </p:txBody>
      </p:sp>
      <p:sp>
        <p:nvSpPr>
          <p:cNvPr id="45" name="Shape 35"/>
          <p:cNvSpPr/>
          <p:nvPr/>
        </p:nvSpPr>
        <p:spPr>
          <a:xfrm>
            <a:off x="8811524" y="3538728"/>
            <a:ext cx="1469075" cy="1106424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6" name="Text 36"/>
          <p:cNvSpPr txBox="1"/>
          <p:nvPr/>
        </p:nvSpPr>
        <p:spPr>
          <a:xfrm>
            <a:off x="8884676" y="3584448"/>
            <a:ext cx="1322771" cy="1014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24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Médica y Seguimiento del Paciente</a:t>
            </a:r>
            <a:endParaRPr lang="en-US" sz="1000" dirty="0"/>
          </a:p>
        </p:txBody>
      </p:sp>
      <p:sp>
        <p:nvSpPr>
          <p:cNvPr id="47" name="Shape 37"/>
          <p:cNvSpPr/>
          <p:nvPr/>
        </p:nvSpPr>
        <p:spPr>
          <a:xfrm rot="5400000">
            <a:off x="1472184" y="2752344"/>
            <a:ext cx="201168" cy="201168"/>
          </a:xfrm>
          <a:prstGeom prst="triangle">
            <a:avLst/>
          </a:prstGeom>
          <a:solidFill>
            <a:srgbClr val="B9C3CC"/>
          </a:solidFill>
          <a:ln/>
        </p:spPr>
      </p:sp>
      <p:sp>
        <p:nvSpPr>
          <p:cNvPr id="48" name="Text 38"/>
          <p:cNvSpPr txBox="1"/>
          <p:nvPr/>
        </p:nvSpPr>
        <p:spPr>
          <a:xfrm>
            <a:off x="457200" y="2798064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66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Necesidades de clientes y grupos de interés</a:t>
            </a:r>
            <a:endParaRPr lang="en-US" sz="850" dirty="0"/>
          </a:p>
        </p:txBody>
      </p:sp>
      <p:sp>
        <p:nvSpPr>
          <p:cNvPr id="49" name="Shape 39"/>
          <p:cNvSpPr/>
          <p:nvPr/>
        </p:nvSpPr>
        <p:spPr>
          <a:xfrm rot="5400000">
            <a:off x="10518343" y="2752344"/>
            <a:ext cx="201168" cy="201168"/>
          </a:xfrm>
          <a:prstGeom prst="triangle">
            <a:avLst/>
          </a:prstGeom>
          <a:solidFill>
            <a:srgbClr val="B9C3CC"/>
          </a:solidFill>
          <a:ln/>
        </p:spPr>
      </p:sp>
      <p:sp>
        <p:nvSpPr>
          <p:cNvPr id="50" name="Text 40"/>
          <p:cNvSpPr txBox="1"/>
          <p:nvPr/>
        </p:nvSpPr>
        <p:spPr>
          <a:xfrm>
            <a:off x="10792663" y="2798064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66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 de clientes y grupos de interés</a:t>
            </a:r>
            <a:endParaRPr lang="en-US" sz="850" dirty="0"/>
          </a:p>
        </p:txBody>
      </p:sp>
      <p:sp>
        <p:nvSpPr>
          <p:cNvPr id="51" name="Text 41"/>
          <p:cNvSpPr txBox="1"/>
          <p:nvPr/>
        </p:nvSpPr>
        <p:spPr>
          <a:xfrm>
            <a:off x="457200" y="5029200"/>
            <a:ext cx="123444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DE</a:t>
            </a:r>
            <a:endParaRPr lang="en-US" sz="12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1250" dirty="0"/>
          </a:p>
        </p:txBody>
      </p:sp>
      <p:sp>
        <p:nvSpPr>
          <p:cNvPr id="52" name="Shape 42"/>
          <p:cNvSpPr/>
          <p:nvPr/>
        </p:nvSpPr>
        <p:spPr>
          <a:xfrm>
            <a:off x="1783080" y="5029200"/>
            <a:ext cx="4175608" cy="1481328"/>
          </a:xfrm>
          <a:prstGeom prst="roundRect">
            <a:avLst>
              <a:gd name="adj" fmla="val 6173"/>
            </a:avLst>
          </a:prstGeom>
          <a:solidFill>
            <a:srgbClr val="FBEEDD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53" name="Text 43"/>
          <p:cNvSpPr txBox="1"/>
          <p:nvPr/>
        </p:nvSpPr>
        <p:spPr>
          <a:xfrm>
            <a:off x="1947672" y="5102352"/>
            <a:ext cx="384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AL NEGOCIO</a:t>
            </a:r>
            <a:endParaRPr lang="en-US" sz="1050" dirty="0"/>
          </a:p>
        </p:txBody>
      </p:sp>
      <p:sp>
        <p:nvSpPr>
          <p:cNvPr id="54" name="Shape 44"/>
          <p:cNvSpPr/>
          <p:nvPr/>
        </p:nvSpPr>
        <p:spPr>
          <a:xfrm>
            <a:off x="1947672" y="5431536"/>
            <a:ext cx="274320" cy="274320"/>
          </a:xfrm>
          <a:prstGeom prst="ellipse">
            <a:avLst/>
          </a:prstGeom>
          <a:solidFill>
            <a:srgbClr val="C97A2B"/>
          </a:solidFill>
          <a:ln/>
        </p:spPr>
      </p:sp>
      <p:pic>
        <p:nvPicPr>
          <p:cNvPr id="55" name="Image 8" descr="/home/claude/work/icons/sn0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07108" y="5490972"/>
            <a:ext cx="155448" cy="155448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2350008" y="5394960"/>
            <a:ext cx="3444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SN01. </a:t>
            </a:r>
            <a:r>
              <a:rPr lang="en-US" sz="950" dirty="0">
                <a:solidFill>
                  <a:srgbClr val="24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y Gestión Financiera-Contable</a:t>
            </a:r>
            <a:endParaRPr lang="en-US" sz="950" dirty="0"/>
          </a:p>
        </p:txBody>
      </p:sp>
      <p:sp>
        <p:nvSpPr>
          <p:cNvPr id="57" name="Shape 46"/>
          <p:cNvSpPr/>
          <p:nvPr/>
        </p:nvSpPr>
        <p:spPr>
          <a:xfrm>
            <a:off x="1947672" y="5779008"/>
            <a:ext cx="274320" cy="274320"/>
          </a:xfrm>
          <a:prstGeom prst="ellipse">
            <a:avLst/>
          </a:prstGeom>
          <a:solidFill>
            <a:srgbClr val="C97A2B"/>
          </a:solidFill>
          <a:ln/>
        </p:spPr>
      </p:sp>
      <p:pic>
        <p:nvPicPr>
          <p:cNvPr id="58" name="Image 9" descr="/home/claude/work/icons/sn0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7108" y="5838444"/>
            <a:ext cx="155448" cy="155448"/>
          </a:xfrm>
          <a:prstGeom prst="rect">
            <a:avLst/>
          </a:prstGeom>
        </p:spPr>
      </p:pic>
      <p:sp>
        <p:nvSpPr>
          <p:cNvPr id="59" name="Text 47"/>
          <p:cNvSpPr txBox="1"/>
          <p:nvPr/>
        </p:nvSpPr>
        <p:spPr>
          <a:xfrm>
            <a:off x="2350008" y="5742432"/>
            <a:ext cx="3444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SN02. </a:t>
            </a:r>
            <a:r>
              <a:rPr lang="en-US" sz="950" dirty="0">
                <a:solidFill>
                  <a:srgbClr val="24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Admisión y Registro de Historias Clínicas</a:t>
            </a:r>
            <a:endParaRPr lang="en-US" sz="950" dirty="0"/>
          </a:p>
        </p:txBody>
      </p:sp>
      <p:sp>
        <p:nvSpPr>
          <p:cNvPr id="60" name="Shape 48"/>
          <p:cNvSpPr/>
          <p:nvPr/>
        </p:nvSpPr>
        <p:spPr>
          <a:xfrm>
            <a:off x="1947672" y="6126480"/>
            <a:ext cx="274320" cy="274320"/>
          </a:xfrm>
          <a:prstGeom prst="ellipse">
            <a:avLst/>
          </a:prstGeom>
          <a:solidFill>
            <a:srgbClr val="C97A2B"/>
          </a:solidFill>
          <a:ln/>
        </p:spPr>
      </p:sp>
      <p:pic>
        <p:nvPicPr>
          <p:cNvPr id="61" name="Image 10" descr="/home/claude/work/icons/sn0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07108" y="6185916"/>
            <a:ext cx="155448" cy="155448"/>
          </a:xfrm>
          <a:prstGeom prst="rect">
            <a:avLst/>
          </a:prstGeom>
        </p:spPr>
      </p:pic>
      <p:sp>
        <p:nvSpPr>
          <p:cNvPr id="62" name="Text 49"/>
          <p:cNvSpPr txBox="1"/>
          <p:nvPr/>
        </p:nvSpPr>
        <p:spPr>
          <a:xfrm>
            <a:off x="2350008" y="6089904"/>
            <a:ext cx="3444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SN03. </a:t>
            </a:r>
            <a:r>
              <a:rPr lang="en-US" sz="950" dirty="0">
                <a:solidFill>
                  <a:srgbClr val="24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por Imágenes y Laboratorio</a:t>
            </a:r>
            <a:endParaRPr lang="en-US" sz="950" dirty="0"/>
          </a:p>
        </p:txBody>
      </p:sp>
      <p:sp>
        <p:nvSpPr>
          <p:cNvPr id="63" name="Shape 50"/>
          <p:cNvSpPr/>
          <p:nvPr/>
        </p:nvSpPr>
        <p:spPr>
          <a:xfrm>
            <a:off x="6233008" y="5029200"/>
            <a:ext cx="4175608" cy="1481328"/>
          </a:xfrm>
          <a:prstGeom prst="roundRect">
            <a:avLst>
              <a:gd name="adj" fmla="val 6173"/>
            </a:avLst>
          </a:prstGeom>
          <a:solidFill>
            <a:srgbClr val="FBEEDD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64" name="Text 51"/>
          <p:cNvSpPr txBox="1"/>
          <p:nvPr/>
        </p:nvSpPr>
        <p:spPr>
          <a:xfrm>
            <a:off x="6397600" y="5102352"/>
            <a:ext cx="384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INSTITUCIONAL</a:t>
            </a:r>
            <a:endParaRPr lang="en-US" sz="1050" dirty="0"/>
          </a:p>
        </p:txBody>
      </p:sp>
      <p:sp>
        <p:nvSpPr>
          <p:cNvPr id="65" name="Shape 52"/>
          <p:cNvSpPr/>
          <p:nvPr/>
        </p:nvSpPr>
        <p:spPr>
          <a:xfrm>
            <a:off x="6397600" y="5431536"/>
            <a:ext cx="274320" cy="274320"/>
          </a:xfrm>
          <a:prstGeom prst="ellipse">
            <a:avLst/>
          </a:prstGeom>
          <a:solidFill>
            <a:srgbClr val="C97A2B"/>
          </a:solidFill>
          <a:ln/>
        </p:spPr>
      </p:sp>
      <p:pic>
        <p:nvPicPr>
          <p:cNvPr id="66" name="Image 11" descr="/home/claude/work/icons/si0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57036" y="5490972"/>
            <a:ext cx="155448" cy="155448"/>
          </a:xfrm>
          <a:prstGeom prst="rect">
            <a:avLst/>
          </a:prstGeom>
        </p:spPr>
      </p:pic>
      <p:sp>
        <p:nvSpPr>
          <p:cNvPr id="67" name="Text 53"/>
          <p:cNvSpPr txBox="1"/>
          <p:nvPr/>
        </p:nvSpPr>
        <p:spPr>
          <a:xfrm>
            <a:off x="6799936" y="5394960"/>
            <a:ext cx="3444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SI01. </a:t>
            </a:r>
            <a:r>
              <a:rPr lang="en-US" sz="950" dirty="0">
                <a:solidFill>
                  <a:srgbClr val="24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Recursos Humanos</a:t>
            </a:r>
            <a:endParaRPr lang="en-US" sz="950" dirty="0"/>
          </a:p>
        </p:txBody>
      </p:sp>
      <p:sp>
        <p:nvSpPr>
          <p:cNvPr id="68" name="Shape 54"/>
          <p:cNvSpPr/>
          <p:nvPr/>
        </p:nvSpPr>
        <p:spPr>
          <a:xfrm>
            <a:off x="6397600" y="5779008"/>
            <a:ext cx="274320" cy="274320"/>
          </a:xfrm>
          <a:prstGeom prst="ellipse">
            <a:avLst/>
          </a:prstGeom>
          <a:solidFill>
            <a:srgbClr val="C97A2B"/>
          </a:solidFill>
          <a:ln/>
        </p:spPr>
      </p:sp>
      <p:pic>
        <p:nvPicPr>
          <p:cNvPr id="69" name="Image 12" descr="/home/claude/work/icons/si0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7036" y="5838444"/>
            <a:ext cx="155448" cy="155448"/>
          </a:xfrm>
          <a:prstGeom prst="rect">
            <a:avLst/>
          </a:prstGeom>
        </p:spPr>
      </p:pic>
      <p:sp>
        <p:nvSpPr>
          <p:cNvPr id="70" name="Text 55"/>
          <p:cNvSpPr txBox="1"/>
          <p:nvPr/>
        </p:nvSpPr>
        <p:spPr>
          <a:xfrm>
            <a:off x="6799936" y="5742432"/>
            <a:ext cx="3444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SI02. </a:t>
            </a:r>
            <a:r>
              <a:rPr lang="en-US" sz="950" dirty="0">
                <a:solidFill>
                  <a:srgbClr val="24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de Equipos e Infraestructura</a:t>
            </a:r>
            <a:endParaRPr lang="en-US" sz="950" dirty="0"/>
          </a:p>
        </p:txBody>
      </p:sp>
      <p:sp>
        <p:nvSpPr>
          <p:cNvPr id="71" name="Shape 56"/>
          <p:cNvSpPr/>
          <p:nvPr/>
        </p:nvSpPr>
        <p:spPr>
          <a:xfrm>
            <a:off x="6397600" y="6126480"/>
            <a:ext cx="274320" cy="274320"/>
          </a:xfrm>
          <a:prstGeom prst="ellipse">
            <a:avLst/>
          </a:prstGeom>
          <a:solidFill>
            <a:srgbClr val="C97A2B"/>
          </a:solidFill>
          <a:ln/>
        </p:spPr>
      </p:sp>
      <p:pic>
        <p:nvPicPr>
          <p:cNvPr id="72" name="Image 13" descr="/home/claude/work/icons/si0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57036" y="6185916"/>
            <a:ext cx="155448" cy="155448"/>
          </a:xfrm>
          <a:prstGeom prst="rect">
            <a:avLst/>
          </a:prstGeom>
        </p:spPr>
      </p:pic>
      <p:sp>
        <p:nvSpPr>
          <p:cNvPr id="73" name="Text 57"/>
          <p:cNvSpPr txBox="1"/>
          <p:nvPr/>
        </p:nvSpPr>
        <p:spPr>
          <a:xfrm>
            <a:off x="6799936" y="6089904"/>
            <a:ext cx="3444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C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SI03. </a:t>
            </a:r>
            <a:r>
              <a:rPr lang="en-US" sz="950" dirty="0">
                <a:solidFill>
                  <a:srgbClr val="24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Reportes y Trámites</a:t>
            </a:r>
            <a:endParaRPr lang="en-US" sz="950" dirty="0"/>
          </a:p>
        </p:txBody>
      </p:sp>
      <p:sp>
        <p:nvSpPr>
          <p:cNvPr id="74" name="Text 58"/>
          <p:cNvSpPr txBox="1"/>
          <p:nvPr/>
        </p:nvSpPr>
        <p:spPr>
          <a:xfrm>
            <a:off x="457200" y="6620256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metodológica: Guía H01.03.01 Mapa de Procesos V2.0  |  Herramienta H01.03.01 Mapa de Procesos V2.0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</Words>
  <Application>Microsoft Office PowerPoint</Application>
  <PresentationFormat>Panorámica</PresentationFormat>
  <Paragraphs>45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</vt:lpstr>
      <vt:lpstr>Office Theme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Marko Dangelo</cp:lastModifiedBy>
  <cp:revision>1</cp:revision>
  <dcterms:created xsi:type="dcterms:W3CDTF">2026-09-08T04:21:58Z</dcterms:created>
  <dcterms:modified xsi:type="dcterms:W3CDTF">2026-09-08T04:25:28Z</dcterms:modified>
</cp:coreProperties>
</file>